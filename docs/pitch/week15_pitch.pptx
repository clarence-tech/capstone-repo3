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14"/>
  </p:notesMasterIdLst>
  <p:sldIdLst>
    <p:sldId id="256" r:id="rId5"/>
    <p:sldId id="304" r:id="rId6"/>
    <p:sldId id="307" r:id="rId7"/>
    <p:sldId id="308" r:id="rId8"/>
    <p:sldId id="309" r:id="rId9"/>
    <p:sldId id="317" r:id="rId10"/>
    <p:sldId id="311" r:id="rId11"/>
    <p:sldId id="318" r:id="rId12"/>
    <p:sldId id="316" r:id="rId13"/>
  </p:sldIdLst>
  <p:sldSz cx="12192000" cy="6858000"/>
  <p:notesSz cx="6858000" cy="9144000"/>
  <p:embeddedFontLst>
    <p:embeddedFont>
      <p:font typeface="Arial Unicode MS" panose="020B0604020202020204" pitchFamily="34" charset="-128"/>
      <p:regular r:id="rId15"/>
    </p:embeddedFont>
    <p:embeddedFont>
      <p:font typeface="Montserrat" pitchFamily="2" charset="77"/>
      <p:regular r:id="rId16"/>
      <p:bold r:id="rId17"/>
      <p:italic r:id="rId18"/>
      <p:boldItalic r:id="rId19"/>
    </p:embeddedFont>
    <p:embeddedFont>
      <p:font typeface="Montserrat Medium" panose="00000600000000000000" pitchFamily="2" charset="77"/>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B32C2E"/>
    <a:srgbClr val="ECECEC"/>
    <a:srgbClr val="EFF1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A35227-C87D-206F-1F22-15801A156E40}" v="602" dt="2024-10-08T03:11:23.5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822"/>
  </p:normalViewPr>
  <p:slideViewPr>
    <p:cSldViewPr snapToGrid="0">
      <p:cViewPr varScale="1">
        <p:scale>
          <a:sx n="88" d="100"/>
          <a:sy n="88" d="100"/>
        </p:scale>
        <p:origin x="2024" y="176"/>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69F8E5-57FF-C14C-9C29-E9E2298638B4}" type="datetimeFigureOut">
              <a:rPr lang="en-US" smtClean="0"/>
              <a:t>12/13/25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9402C-409E-E34E-B42A-4DE1039FE8D8}" type="slidenum">
              <a:rPr lang="en-US" smtClean="0"/>
              <a:t>‹#›</a:t>
            </a:fld>
            <a:endParaRPr lang="en-US"/>
          </a:p>
        </p:txBody>
      </p:sp>
    </p:spTree>
    <p:extLst>
      <p:ext uri="{BB962C8B-B14F-4D97-AF65-F5344CB8AC3E}">
        <p14:creationId xmlns:p14="http://schemas.microsoft.com/office/powerpoint/2010/main" val="3976850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project argues that strengthening detection coverage, improving asset visibility, and applying risk-driven monitoring can materially reduce ransomware exposure. I’ll walk through the problem, supporting evidence, method, safeguards, evaluation plan, and how this work aligns with key CSF 2.0 Outcomes.</a:t>
            </a:r>
          </a:p>
        </p:txBody>
      </p:sp>
      <p:sp>
        <p:nvSpPr>
          <p:cNvPr id="4" name="Slide Number Placeholder 3"/>
          <p:cNvSpPr>
            <a:spLocks noGrp="1"/>
          </p:cNvSpPr>
          <p:nvPr>
            <p:ph type="sldNum" sz="quarter" idx="5"/>
          </p:nvPr>
        </p:nvSpPr>
        <p:spPr/>
        <p:txBody>
          <a:bodyPr/>
          <a:lstStyle/>
          <a:p>
            <a:fld id="{8A19402C-409E-E34E-B42A-4DE1039FE8D8}" type="slidenum">
              <a:rPr lang="en-US" smtClean="0"/>
              <a:t>1</a:t>
            </a:fld>
            <a:endParaRPr lang="en-US"/>
          </a:p>
        </p:txBody>
      </p:sp>
    </p:spTree>
    <p:extLst>
      <p:ext uri="{BB962C8B-B14F-4D97-AF65-F5344CB8AC3E}">
        <p14:creationId xmlns:p14="http://schemas.microsoft.com/office/powerpoint/2010/main" val="2704221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Ransomware continues to escalate in frequency and impact. Many incidents stem from incomplete asset inventories and insufficient monitoring baselines. The statistic from my Week 4/5 research highlights why addressing these foundational weaknesses is so important now.</a:t>
            </a:r>
          </a:p>
        </p:txBody>
      </p:sp>
      <p:sp>
        <p:nvSpPr>
          <p:cNvPr id="4" name="Slide Number Placeholder 3"/>
          <p:cNvSpPr>
            <a:spLocks noGrp="1"/>
          </p:cNvSpPr>
          <p:nvPr>
            <p:ph type="sldNum" sz="quarter" idx="5"/>
          </p:nvPr>
        </p:nvSpPr>
        <p:spPr/>
        <p:txBody>
          <a:bodyPr/>
          <a:lstStyle/>
          <a:p>
            <a:fld id="{8A19402C-409E-E34E-B42A-4DE1039FE8D8}" type="slidenum">
              <a:rPr lang="en-US" smtClean="0"/>
              <a:t>2</a:t>
            </a:fld>
            <a:endParaRPr lang="en-US"/>
          </a:p>
        </p:txBody>
      </p:sp>
    </p:spTree>
    <p:extLst>
      <p:ext uri="{BB962C8B-B14F-4D97-AF65-F5344CB8AC3E}">
        <p14:creationId xmlns:p14="http://schemas.microsoft.com/office/powerpoint/2010/main" val="1082988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sources collectively reinforce my project’s direction. They show how weak inventory practices, limited monitoring, and unmanaged supplier risks directly contribute to ransomware exposure. My approach builds on these findings and targets the gaps consistently highlighted across the literature.</a:t>
            </a:r>
          </a:p>
        </p:txBody>
      </p:sp>
      <p:sp>
        <p:nvSpPr>
          <p:cNvPr id="4" name="Slide Number Placeholder 3"/>
          <p:cNvSpPr>
            <a:spLocks noGrp="1"/>
          </p:cNvSpPr>
          <p:nvPr>
            <p:ph type="sldNum" sz="quarter" idx="5"/>
          </p:nvPr>
        </p:nvSpPr>
        <p:spPr/>
        <p:txBody>
          <a:bodyPr/>
          <a:lstStyle/>
          <a:p>
            <a:fld id="{8A19402C-409E-E34E-B42A-4DE1039FE8D8}" type="slidenum">
              <a:rPr lang="en-US" smtClean="0"/>
              <a:t>3</a:t>
            </a:fld>
            <a:endParaRPr lang="en-US"/>
          </a:p>
        </p:txBody>
      </p:sp>
    </p:spTree>
    <p:extLst>
      <p:ext uri="{BB962C8B-B14F-4D97-AF65-F5344CB8AC3E}">
        <p14:creationId xmlns:p14="http://schemas.microsoft.com/office/powerpoint/2010/main" val="180305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workflow processes the sample dataset end-to-end. Running </a:t>
            </a:r>
            <a:r>
              <a:rPr lang="en-US" sz="1200" kern="1200" dirty="0">
                <a:solidFill>
                  <a:schemeClr val="tx1"/>
                </a:solidFill>
                <a:latin typeface="+mn-lt"/>
                <a:ea typeface="+mn-ea"/>
                <a:cs typeface="+mn-cs"/>
              </a:rPr>
              <a:t>make analyze</a:t>
            </a:r>
            <a:r>
              <a:rPr lang="en-US" dirty="0"/>
              <a:t> in the repo executes the parser, applies detection logic, and outputs the metrics. This demonstrates how the project generates reproducible, measurable results directly from the provided dataset.</a:t>
            </a:r>
          </a:p>
        </p:txBody>
      </p:sp>
      <p:sp>
        <p:nvSpPr>
          <p:cNvPr id="4" name="Slide Number Placeholder 3"/>
          <p:cNvSpPr>
            <a:spLocks noGrp="1"/>
          </p:cNvSpPr>
          <p:nvPr>
            <p:ph type="sldNum" sz="quarter" idx="5"/>
          </p:nvPr>
        </p:nvSpPr>
        <p:spPr/>
        <p:txBody>
          <a:bodyPr/>
          <a:lstStyle/>
          <a:p>
            <a:fld id="{8A19402C-409E-E34E-B42A-4DE1039FE8D8}" type="slidenum">
              <a:rPr lang="en-US" smtClean="0"/>
              <a:t>4</a:t>
            </a:fld>
            <a:endParaRPr lang="en-US"/>
          </a:p>
        </p:txBody>
      </p:sp>
    </p:spTree>
    <p:extLst>
      <p:ext uri="{BB962C8B-B14F-4D97-AF65-F5344CB8AC3E}">
        <p14:creationId xmlns:p14="http://schemas.microsoft.com/office/powerpoint/2010/main" val="635760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quote DE.CM-01 verbatim as required. My design directly supports this Outcome by expanding monitoring visibility and improving how adverse events are surfaced. The Zero Trust principle reinforces the idea that every asset should be observable and protected.</a:t>
            </a:r>
            <a:endParaRPr lang="en-US" dirty="0">
              <a:cs typeface="Calibri"/>
            </a:endParaRPr>
          </a:p>
        </p:txBody>
      </p:sp>
      <p:sp>
        <p:nvSpPr>
          <p:cNvPr id="4" name="Slide Number Placeholder 3"/>
          <p:cNvSpPr>
            <a:spLocks noGrp="1"/>
          </p:cNvSpPr>
          <p:nvPr>
            <p:ph type="sldNum" sz="quarter" idx="5"/>
          </p:nvPr>
        </p:nvSpPr>
        <p:spPr/>
        <p:txBody>
          <a:bodyPr/>
          <a:lstStyle/>
          <a:p>
            <a:fld id="{8A19402C-409E-E34E-B42A-4DE1039FE8D8}" type="slidenum">
              <a:rPr lang="en-US" smtClean="0"/>
              <a:t>5</a:t>
            </a:fld>
            <a:endParaRPr lang="en-US"/>
          </a:p>
        </p:txBody>
      </p:sp>
    </p:spTree>
    <p:extLst>
      <p:ext uri="{BB962C8B-B14F-4D97-AF65-F5344CB8AC3E}">
        <p14:creationId xmlns:p14="http://schemas.microsoft.com/office/powerpoint/2010/main" val="1671828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safeguards ensure the project remains ethical, privacy-aligned, and operationally sound. All sensitive or real-world data is excluded. Controls documented in </a:t>
            </a:r>
            <a:r>
              <a:rPr lang="en-US" sz="1200" kern="1200" dirty="0" err="1">
                <a:solidFill>
                  <a:schemeClr val="tx1"/>
                </a:solidFill>
                <a:latin typeface="+mn-lt"/>
                <a:ea typeface="+mn-ea"/>
                <a:cs typeface="+mn-cs"/>
              </a:rPr>
              <a:t>ETHICS.md</a:t>
            </a:r>
            <a:r>
              <a:rPr lang="en-US" dirty="0"/>
              <a:t>, </a:t>
            </a:r>
            <a:r>
              <a:rPr lang="en-US" sz="1200" kern="1200" dirty="0" err="1">
                <a:solidFill>
                  <a:schemeClr val="tx1"/>
                </a:solidFill>
                <a:latin typeface="+mn-lt"/>
                <a:ea typeface="+mn-ea"/>
                <a:cs typeface="+mn-cs"/>
              </a:rPr>
              <a:t>DMP.md</a:t>
            </a:r>
            <a:r>
              <a:rPr lang="en-US" dirty="0"/>
              <a:t>, and </a:t>
            </a:r>
            <a:r>
              <a:rPr lang="en-US" sz="1200" kern="1200" dirty="0">
                <a:solidFill>
                  <a:schemeClr val="tx1"/>
                </a:solidFill>
                <a:latin typeface="+mn-lt"/>
                <a:ea typeface="+mn-ea"/>
                <a:cs typeface="+mn-cs"/>
              </a:rPr>
              <a:t>docs/</a:t>
            </a:r>
            <a:r>
              <a:rPr lang="en-US" sz="1200" kern="1200" dirty="0" err="1">
                <a:solidFill>
                  <a:schemeClr val="tx1"/>
                </a:solidFill>
                <a:latin typeface="+mn-lt"/>
                <a:ea typeface="+mn-ea"/>
                <a:cs typeface="+mn-cs"/>
              </a:rPr>
              <a:t>cscrm_note.md</a:t>
            </a:r>
            <a:r>
              <a:rPr lang="en-US" dirty="0"/>
              <a:t> guide safe handling and supplier-related risk decisions.</a:t>
            </a:r>
            <a:endParaRPr lang="en-US" dirty="0">
              <a:cs typeface="Calibri"/>
            </a:endParaRPr>
          </a:p>
        </p:txBody>
      </p:sp>
      <p:sp>
        <p:nvSpPr>
          <p:cNvPr id="4" name="Slide Number Placeholder 3"/>
          <p:cNvSpPr>
            <a:spLocks noGrp="1"/>
          </p:cNvSpPr>
          <p:nvPr>
            <p:ph type="sldNum" sz="quarter" idx="5"/>
          </p:nvPr>
        </p:nvSpPr>
        <p:spPr/>
        <p:txBody>
          <a:bodyPr/>
          <a:lstStyle/>
          <a:p>
            <a:fld id="{8A19402C-409E-E34E-B42A-4DE1039FE8D8}" type="slidenum">
              <a:rPr lang="en-US" smtClean="0"/>
              <a:t>6</a:t>
            </a:fld>
            <a:endParaRPr lang="en-US"/>
          </a:p>
        </p:txBody>
      </p:sp>
    </p:spTree>
    <p:extLst>
      <p:ext uri="{BB962C8B-B14F-4D97-AF65-F5344CB8AC3E}">
        <p14:creationId xmlns:p14="http://schemas.microsoft.com/office/powerpoint/2010/main" val="1855084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metric provides a measurable way to evaluate improvement. Detection Coverage shows breadth, </a:t>
            </a:r>
            <a:r>
              <a:rPr lang="en-US" dirty="0" err="1"/>
              <a:t>TtD</a:t>
            </a:r>
            <a:r>
              <a:rPr lang="en-US" dirty="0"/>
              <a:t> measures responsiveness, and RWAS supports prioritization. Mapping these metrics to 800-171r3 requirements strengthens the traceability between risk, controls, and observable evidence.</a:t>
            </a:r>
          </a:p>
        </p:txBody>
      </p:sp>
      <p:sp>
        <p:nvSpPr>
          <p:cNvPr id="4" name="Slide Number Placeholder 3"/>
          <p:cNvSpPr>
            <a:spLocks noGrp="1"/>
          </p:cNvSpPr>
          <p:nvPr>
            <p:ph type="sldNum" sz="quarter" idx="5"/>
          </p:nvPr>
        </p:nvSpPr>
        <p:spPr/>
        <p:txBody>
          <a:bodyPr/>
          <a:lstStyle/>
          <a:p>
            <a:fld id="{8A19402C-409E-E34E-B42A-4DE1039FE8D8}" type="slidenum">
              <a:rPr lang="en-US" smtClean="0"/>
              <a:t>7</a:t>
            </a:fld>
            <a:endParaRPr lang="en-US"/>
          </a:p>
        </p:txBody>
      </p:sp>
    </p:spTree>
    <p:extLst>
      <p:ext uri="{BB962C8B-B14F-4D97-AF65-F5344CB8AC3E}">
        <p14:creationId xmlns:p14="http://schemas.microsoft.com/office/powerpoint/2010/main" val="3464735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the project moves from a fragmented baseline to a measurable, repeatable monitoring and risk-assessment model. I’m quoting DE.CM-01 exactly as required. The additional Outcomes strengthen alignment with inventory and risk-prioritization improvements.</a:t>
            </a:r>
          </a:p>
        </p:txBody>
      </p:sp>
      <p:sp>
        <p:nvSpPr>
          <p:cNvPr id="4" name="Slide Number Placeholder 3"/>
          <p:cNvSpPr>
            <a:spLocks noGrp="1"/>
          </p:cNvSpPr>
          <p:nvPr>
            <p:ph type="sldNum" sz="quarter" idx="5"/>
          </p:nvPr>
        </p:nvSpPr>
        <p:spPr/>
        <p:txBody>
          <a:bodyPr/>
          <a:lstStyle/>
          <a:p>
            <a:fld id="{8A19402C-409E-E34E-B42A-4DE1039FE8D8}" type="slidenum">
              <a:rPr lang="en-US" smtClean="0"/>
              <a:t>8</a:t>
            </a:fld>
            <a:endParaRPr lang="en-US"/>
          </a:p>
        </p:txBody>
      </p:sp>
    </p:spTree>
    <p:extLst>
      <p:ext uri="{BB962C8B-B14F-4D97-AF65-F5344CB8AC3E}">
        <p14:creationId xmlns:p14="http://schemas.microsoft.com/office/powerpoint/2010/main" val="2886986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project delivers a practical, measurable way to reduce ransomware risk by improving monitoring, asset visibility, and risk-based analysis. </a:t>
            </a:r>
            <a:r>
              <a:rPr lang="en-US"/>
              <a:t>The workflow is fully reproducible, the metrics are actionable, and each improvement aligns directly with CSF Outcomes and organizational governance needs.</a:t>
            </a:r>
          </a:p>
          <a:p>
            <a:endParaRPr lang="en-US"/>
          </a:p>
        </p:txBody>
      </p:sp>
      <p:sp>
        <p:nvSpPr>
          <p:cNvPr id="4" name="Slide Number Placeholder 3"/>
          <p:cNvSpPr>
            <a:spLocks noGrp="1"/>
          </p:cNvSpPr>
          <p:nvPr>
            <p:ph type="sldNum" sz="quarter" idx="5"/>
          </p:nvPr>
        </p:nvSpPr>
        <p:spPr/>
        <p:txBody>
          <a:bodyPr/>
          <a:lstStyle/>
          <a:p>
            <a:fld id="{8A19402C-409E-E34E-B42A-4DE1039FE8D8}" type="slidenum">
              <a:rPr lang="en-US" smtClean="0"/>
              <a:t>9</a:t>
            </a:fld>
            <a:endParaRPr lang="en-US"/>
          </a:p>
        </p:txBody>
      </p:sp>
    </p:spTree>
    <p:extLst>
      <p:ext uri="{BB962C8B-B14F-4D97-AF65-F5344CB8AC3E}">
        <p14:creationId xmlns:p14="http://schemas.microsoft.com/office/powerpoint/2010/main" val="32675427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67D9A-BD4E-794A-BCAE-05E79CCFA3F9}"/>
              </a:ext>
            </a:extLst>
          </p:cNvPr>
          <p:cNvSpPr>
            <a:spLocks noGrp="1"/>
          </p:cNvSpPr>
          <p:nvPr>
            <p:ph type="ctrTitle"/>
          </p:nvPr>
        </p:nvSpPr>
        <p:spPr>
          <a:xfrm>
            <a:off x="609598" y="3082233"/>
            <a:ext cx="5486400" cy="1466850"/>
          </a:xfrm>
          <a:prstGeom prst="rect">
            <a:avLst/>
          </a:prstGeom>
        </p:spPr>
        <p:txBody>
          <a:bodyPr anchor="t" anchorCtr="0"/>
          <a:lstStyle>
            <a:lvl1pPr algn="l">
              <a:defRPr sz="4400" b="1" i="0" spc="150" baseline="0">
                <a:solidFill>
                  <a:schemeClr val="accent1"/>
                </a:solidFill>
                <a:latin typeface="Montserrat" pitchFamily="2" charset="77"/>
              </a:defRPr>
            </a:lvl1pPr>
          </a:lstStyle>
          <a:p>
            <a:r>
              <a:rPr lang="en-US"/>
              <a:t>Click to edit Master title style</a:t>
            </a:r>
          </a:p>
        </p:txBody>
      </p:sp>
      <p:sp>
        <p:nvSpPr>
          <p:cNvPr id="3" name="Subtitle 2">
            <a:extLst>
              <a:ext uri="{FF2B5EF4-FFF2-40B4-BE49-F238E27FC236}">
                <a16:creationId xmlns:a16="http://schemas.microsoft.com/office/drawing/2014/main" id="{326DD8AB-1063-E745-B279-1D8536A4216E}"/>
              </a:ext>
            </a:extLst>
          </p:cNvPr>
          <p:cNvSpPr>
            <a:spLocks noGrp="1"/>
          </p:cNvSpPr>
          <p:nvPr>
            <p:ph type="subTitle" idx="1"/>
          </p:nvPr>
        </p:nvSpPr>
        <p:spPr>
          <a:xfrm>
            <a:off x="609599" y="5154930"/>
            <a:ext cx="5486399" cy="796500"/>
          </a:xfrm>
          <a:prstGeom prst="rect">
            <a:avLst/>
          </a:prstGeom>
        </p:spPr>
        <p:txBody>
          <a:bodyPr/>
          <a:lstStyle>
            <a:lvl1pPr marL="0" indent="0" algn="l">
              <a:lnSpc>
                <a:spcPct val="150000"/>
              </a:lnSpc>
              <a:buNone/>
              <a:defRPr sz="2400" b="0" i="0" spc="100" baseline="0">
                <a:solidFill>
                  <a:schemeClr val="tx1"/>
                </a:solidFill>
                <a:latin typeface="Montserrat Medium"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E1581-CB3C-0A4F-BD80-0C11FC72FE56}"/>
              </a:ext>
            </a:extLst>
          </p:cNvPr>
          <p:cNvSpPr>
            <a:spLocks noGrp="1"/>
          </p:cNvSpPr>
          <p:nvPr>
            <p:ph type="dt" sz="half" idx="10"/>
          </p:nvPr>
        </p:nvSpPr>
        <p:spPr>
          <a:xfrm>
            <a:off x="609600" y="6478800"/>
            <a:ext cx="1697610" cy="153888"/>
          </a:xfrm>
          <a:prstGeom prst="rect">
            <a:avLst/>
          </a:prstGeom>
        </p:spPr>
        <p:txBody>
          <a:bodyPr wrap="square" lIns="0" tIns="0" rIns="0" bIns="0" anchor="ctr" anchorCtr="0">
            <a:spAutoFit/>
          </a:bodyPr>
          <a:lstStyle>
            <a:lvl1pPr algn="l">
              <a:defRPr sz="1000" b="1" i="0" cap="all" spc="150" baseline="0">
                <a:solidFill>
                  <a:schemeClr val="tx1"/>
                </a:solidFill>
                <a:latin typeface="Montserrat" pitchFamily="2" charset="77"/>
              </a:defRPr>
            </a:lvl1pPr>
          </a:lstStyle>
          <a:p>
            <a:r>
              <a:rPr lang="en-US"/>
              <a:t>DECEMBER 20, 2021</a:t>
            </a:r>
          </a:p>
        </p:txBody>
      </p:sp>
      <p:pic>
        <p:nvPicPr>
          <p:cNvPr id="10" name="Picture 9" descr="Logo&#10;&#10;Description automatically generated">
            <a:extLst>
              <a:ext uri="{FF2B5EF4-FFF2-40B4-BE49-F238E27FC236}">
                <a16:creationId xmlns:a16="http://schemas.microsoft.com/office/drawing/2014/main" id="{FE05AFA6-9153-4747-A097-AB197EA8AB56}"/>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6565898" y="1145937"/>
            <a:ext cx="5626100" cy="5712063"/>
          </a:xfrm>
          <a:prstGeom prst="rect">
            <a:avLst/>
          </a:prstGeom>
        </p:spPr>
      </p:pic>
      <p:pic>
        <p:nvPicPr>
          <p:cNvPr id="11" name="Picture 10" descr="Metro State University">
            <a:extLst>
              <a:ext uri="{FF2B5EF4-FFF2-40B4-BE49-F238E27FC236}">
                <a16:creationId xmlns:a16="http://schemas.microsoft.com/office/drawing/2014/main" id="{B283C9E4-9A22-5245-9809-A62B5F144A4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09599" y="838604"/>
            <a:ext cx="5038343" cy="875896"/>
          </a:xfrm>
          <a:prstGeom prst="rect">
            <a:avLst/>
          </a:prstGeom>
        </p:spPr>
      </p:pic>
    </p:spTree>
    <p:extLst>
      <p:ext uri="{BB962C8B-B14F-4D97-AF65-F5344CB8AC3E}">
        <p14:creationId xmlns:p14="http://schemas.microsoft.com/office/powerpoint/2010/main" val="467983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EFC10-EEDB-AE46-9546-B1C1360F3777}"/>
              </a:ext>
            </a:extLst>
          </p:cNvPr>
          <p:cNvSpPr>
            <a:spLocks noGrp="1"/>
          </p:cNvSpPr>
          <p:nvPr>
            <p:ph type="title"/>
          </p:nvPr>
        </p:nvSpPr>
        <p:spPr>
          <a:xfrm>
            <a:off x="609600" y="3092783"/>
            <a:ext cx="10515600" cy="1133475"/>
          </a:xfrm>
          <a:prstGeom prst="rect">
            <a:avLst/>
          </a:prstGeom>
        </p:spPr>
        <p:txBody>
          <a:bodyPr anchor="t" anchorCtr="0"/>
          <a:lstStyle>
            <a:lvl1pPr>
              <a:defRPr sz="4800" b="1" i="0">
                <a:latin typeface="Montserrat" pitchFamily="2" charset="77"/>
              </a:defRPr>
            </a:lvl1pPr>
          </a:lstStyle>
          <a:p>
            <a:r>
              <a:rPr lang="en-US"/>
              <a:t>Click to edit Master title style</a:t>
            </a:r>
          </a:p>
        </p:txBody>
      </p:sp>
      <p:sp>
        <p:nvSpPr>
          <p:cNvPr id="3" name="Text Placeholder 2">
            <a:extLst>
              <a:ext uri="{FF2B5EF4-FFF2-40B4-BE49-F238E27FC236}">
                <a16:creationId xmlns:a16="http://schemas.microsoft.com/office/drawing/2014/main" id="{DA11E492-9BB5-B440-A7DD-EBC8AC44DB88}"/>
              </a:ext>
            </a:extLst>
          </p:cNvPr>
          <p:cNvSpPr>
            <a:spLocks noGrp="1"/>
          </p:cNvSpPr>
          <p:nvPr>
            <p:ph type="body" idx="1"/>
          </p:nvPr>
        </p:nvSpPr>
        <p:spPr>
          <a:xfrm>
            <a:off x="585076" y="4226258"/>
            <a:ext cx="10515600" cy="519429"/>
          </a:xfrm>
          <a:prstGeom prst="rect">
            <a:avLst/>
          </a:prstGeom>
        </p:spPr>
        <p:txBody>
          <a:bodyPr/>
          <a:lstStyle>
            <a:lvl1pPr marL="0" indent="0">
              <a:buNone/>
              <a:defRPr sz="2400" b="0" i="0">
                <a:solidFill>
                  <a:schemeClr val="accent1"/>
                </a:solidFill>
                <a:latin typeface="Montserrat Medium"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016D9D96-D8C5-7A47-A808-6FCBB3A0263B}"/>
              </a:ext>
              <a:ext uri="{C183D7F6-B498-43B3-948B-1728B52AA6E4}">
                <adec:decorative xmlns:adec="http://schemas.microsoft.com/office/drawing/2017/decorative" val="1"/>
              </a:ext>
            </a:extLst>
          </p:cNvPr>
          <p:cNvGrpSpPr/>
          <p:nvPr userDrawn="1"/>
        </p:nvGrpSpPr>
        <p:grpSpPr>
          <a:xfrm>
            <a:off x="588793" y="2484862"/>
            <a:ext cx="1337978" cy="175165"/>
            <a:chOff x="588793" y="2400340"/>
            <a:chExt cx="1337978" cy="175165"/>
          </a:xfrm>
        </p:grpSpPr>
        <p:sp>
          <p:nvSpPr>
            <p:cNvPr id="10" name="Rectangle 9">
              <a:extLst>
                <a:ext uri="{FF2B5EF4-FFF2-40B4-BE49-F238E27FC236}">
                  <a16:creationId xmlns:a16="http://schemas.microsoft.com/office/drawing/2014/main" id="{CE1A3B23-D3C7-6A42-B57F-75C08E1CCE2E}"/>
                </a:ext>
              </a:extLst>
            </p:cNvPr>
            <p:cNvSpPr/>
            <p:nvPr userDrawn="1"/>
          </p:nvSpPr>
          <p:spPr>
            <a:xfrm rot="5400000">
              <a:off x="1170200" y="1818934"/>
              <a:ext cx="175164" cy="13379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ontserrat" pitchFamily="2" charset="77"/>
              </a:endParaRPr>
            </a:p>
          </p:txBody>
        </p:sp>
        <p:sp>
          <p:nvSpPr>
            <p:cNvPr id="15" name="Rectangle 8">
              <a:extLst>
                <a:ext uri="{FF2B5EF4-FFF2-40B4-BE49-F238E27FC236}">
                  <a16:creationId xmlns:a16="http://schemas.microsoft.com/office/drawing/2014/main" id="{130F71BB-C662-C141-95AF-8661D349F524}"/>
                </a:ext>
              </a:extLst>
            </p:cNvPr>
            <p:cNvSpPr/>
            <p:nvPr userDrawn="1"/>
          </p:nvSpPr>
          <p:spPr>
            <a:xfrm rot="5400000">
              <a:off x="1456144" y="2104876"/>
              <a:ext cx="175164" cy="766091"/>
            </a:xfrm>
            <a:custGeom>
              <a:avLst/>
              <a:gdLst>
                <a:gd name="connsiteX0" fmla="*/ 0 w 228600"/>
                <a:gd name="connsiteY0" fmla="*/ 0 h 999794"/>
                <a:gd name="connsiteX1" fmla="*/ 228600 w 228600"/>
                <a:gd name="connsiteY1" fmla="*/ 0 h 999794"/>
                <a:gd name="connsiteX2" fmla="*/ 228600 w 228600"/>
                <a:gd name="connsiteY2" fmla="*/ 999794 h 999794"/>
                <a:gd name="connsiteX3" fmla="*/ 0 w 228600"/>
                <a:gd name="connsiteY3" fmla="*/ 999794 h 999794"/>
                <a:gd name="connsiteX4" fmla="*/ 0 w 228600"/>
                <a:gd name="connsiteY4" fmla="*/ 0 h 999794"/>
                <a:gd name="connsiteX0" fmla="*/ 0 w 228600"/>
                <a:gd name="connsiteY0" fmla="*/ 0 h 999794"/>
                <a:gd name="connsiteX1" fmla="*/ 228600 w 228600"/>
                <a:gd name="connsiteY1" fmla="*/ 0 h 999794"/>
                <a:gd name="connsiteX2" fmla="*/ 228600 w 228600"/>
                <a:gd name="connsiteY2" fmla="*/ 752144 h 999794"/>
                <a:gd name="connsiteX3" fmla="*/ 0 w 228600"/>
                <a:gd name="connsiteY3" fmla="*/ 999794 h 999794"/>
                <a:gd name="connsiteX4" fmla="*/ 0 w 228600"/>
                <a:gd name="connsiteY4" fmla="*/ 0 h 999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999794">
                  <a:moveTo>
                    <a:pt x="0" y="0"/>
                  </a:moveTo>
                  <a:lnTo>
                    <a:pt x="228600" y="0"/>
                  </a:lnTo>
                  <a:lnTo>
                    <a:pt x="228600" y="752144"/>
                  </a:lnTo>
                  <a:lnTo>
                    <a:pt x="0" y="99979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ontserrat" pitchFamily="2" charset="77"/>
              </a:endParaRPr>
            </a:p>
          </p:txBody>
        </p:sp>
      </p:grpSp>
      <p:pic>
        <p:nvPicPr>
          <p:cNvPr id="6" name="Picture 5" descr="Metro State University">
            <a:extLst>
              <a:ext uri="{FF2B5EF4-FFF2-40B4-BE49-F238E27FC236}">
                <a16:creationId xmlns:a16="http://schemas.microsoft.com/office/drawing/2014/main" id="{ACC1B133-52DB-C249-9ABC-834BD70915A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605051" y="249481"/>
            <a:ext cx="1326981" cy="870087"/>
          </a:xfrm>
          <a:prstGeom prst="rect">
            <a:avLst/>
          </a:prstGeom>
        </p:spPr>
      </p:pic>
    </p:spTree>
    <p:extLst>
      <p:ext uri="{BB962C8B-B14F-4D97-AF65-F5344CB8AC3E}">
        <p14:creationId xmlns:p14="http://schemas.microsoft.com/office/powerpoint/2010/main" val="3358837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ansition Slide">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B697D4-C537-6D4A-B9C9-0DB4C2D7BE91}"/>
              </a:ext>
            </a:extLst>
          </p:cNvPr>
          <p:cNvSpPr>
            <a:spLocks noGrp="1"/>
          </p:cNvSpPr>
          <p:nvPr>
            <p:ph type="title" hasCustomPrompt="1"/>
          </p:nvPr>
        </p:nvSpPr>
        <p:spPr>
          <a:xfrm>
            <a:off x="609600" y="1119568"/>
            <a:ext cx="10972800" cy="955963"/>
          </a:xfrm>
          <a:prstGeom prst="rect">
            <a:avLst/>
          </a:prstGeom>
        </p:spPr>
        <p:txBody>
          <a:bodyPr/>
          <a:lstStyle>
            <a:lvl1pPr>
              <a:defRPr sz="4800"/>
            </a:lvl1pPr>
          </a:lstStyle>
          <a:p>
            <a:r>
              <a:rPr lang="en-US"/>
              <a:t>Click to edit master title style</a:t>
            </a:r>
          </a:p>
        </p:txBody>
      </p:sp>
    </p:spTree>
    <p:extLst>
      <p:ext uri="{BB962C8B-B14F-4D97-AF65-F5344CB8AC3E}">
        <p14:creationId xmlns:p14="http://schemas.microsoft.com/office/powerpoint/2010/main" val="2564962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BB387-F66F-3F49-9EC7-3C39DA38C7B5}"/>
              </a:ext>
            </a:extLst>
          </p:cNvPr>
          <p:cNvSpPr>
            <a:spLocks noGrp="1"/>
          </p:cNvSpPr>
          <p:nvPr>
            <p:ph type="title" hasCustomPrompt="1"/>
          </p:nvPr>
        </p:nvSpPr>
        <p:spPr>
          <a:xfrm>
            <a:off x="609600" y="1119568"/>
            <a:ext cx="10972800" cy="955963"/>
          </a:xfrm>
          <a:prstGeom prst="rect">
            <a:avLst/>
          </a:prstGeom>
        </p:spPr>
        <p:txBody>
          <a:bodyPr/>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6350B812-0726-4748-AC29-BC086D1F196F}"/>
              </a:ext>
            </a:extLst>
          </p:cNvPr>
          <p:cNvSpPr>
            <a:spLocks noGrp="1"/>
          </p:cNvSpPr>
          <p:nvPr>
            <p:ph idx="1" hasCustomPrompt="1"/>
          </p:nvPr>
        </p:nvSpPr>
        <p:spPr>
          <a:xfrm>
            <a:off x="609599" y="2075531"/>
            <a:ext cx="10972799" cy="4291815"/>
          </a:xfrm>
          <a:prstGeom prst="rect">
            <a:avLst/>
          </a:prstGeom>
        </p:spPr>
        <p:txBody>
          <a:bodyPr/>
          <a:lstStyle>
            <a:lvl1pPr>
              <a:defRPr sz="3200"/>
            </a:lvl1pPr>
            <a:lvl2pPr marL="458788" indent="-165100">
              <a:tabLst/>
              <a:defRPr sz="2000"/>
            </a:lvl2pPr>
            <a:lvl3pPr marL="514350" indent="0">
              <a:buNone/>
              <a:tabLst/>
              <a:defRPr sz="1800"/>
            </a:lvl3pPr>
            <a:lvl4pPr marL="744538" indent="0">
              <a:buNone/>
              <a:tabLst/>
              <a:defRPr sz="1600"/>
            </a:lvl4pPr>
            <a:lvl5pPr marL="974725" indent="0">
              <a:buNone/>
              <a:tabLst/>
              <a:defRPr sz="1400"/>
            </a:lvl5pPr>
          </a:lstStyle>
          <a:p>
            <a:pPr lvl="0"/>
            <a:r>
              <a:rPr lang="en-US"/>
              <a:t>Click to edit Master text styles</a:t>
            </a:r>
          </a:p>
          <a:p>
            <a:pPr lvl="2"/>
            <a:endParaRPr lang="en-US"/>
          </a:p>
        </p:txBody>
      </p:sp>
      <p:pic>
        <p:nvPicPr>
          <p:cNvPr id="10" name="Picture 9">
            <a:extLst>
              <a:ext uri="{FF2B5EF4-FFF2-40B4-BE49-F238E27FC236}">
                <a16:creationId xmlns:a16="http://schemas.microsoft.com/office/drawing/2014/main" id="{02272D0F-A672-E94A-AFA7-1BDC9AD9B610}"/>
              </a:ext>
            </a:extLst>
          </p:cNvPr>
          <p:cNvPicPr>
            <a:picLocks noChangeAspect="1"/>
          </p:cNvPicPr>
          <p:nvPr userDrawn="1"/>
        </p:nvPicPr>
        <p:blipFill rotWithShape="1">
          <a:blip r:embed="rId2" cstate="hqprint">
            <a:lum bright="-3000" contrast="-1000"/>
            <a:extLst>
              <a:ext uri="{28A0092B-C50C-407E-A947-70E740481C1C}">
                <a14:useLocalDpi xmlns:a14="http://schemas.microsoft.com/office/drawing/2010/main"/>
              </a:ext>
            </a:extLst>
          </a:blip>
          <a:srcRect l="5000" t="1" b="-1"/>
          <a:stretch/>
        </p:blipFill>
        <p:spPr>
          <a:xfrm>
            <a:off x="0" y="6482090"/>
            <a:ext cx="12192000" cy="155062"/>
          </a:xfrm>
          <a:prstGeom prst="rect">
            <a:avLst/>
          </a:prstGeom>
        </p:spPr>
      </p:pic>
      <p:pic>
        <p:nvPicPr>
          <p:cNvPr id="7" name="Picture 6" descr="Metro State University">
            <a:extLst>
              <a:ext uri="{FF2B5EF4-FFF2-40B4-BE49-F238E27FC236}">
                <a16:creationId xmlns:a16="http://schemas.microsoft.com/office/drawing/2014/main" id="{72D15AF5-3D6E-F041-8E34-085404E5D65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605051" y="249481"/>
            <a:ext cx="1326981" cy="870087"/>
          </a:xfrm>
          <a:prstGeom prst="rect">
            <a:avLst/>
          </a:prstGeom>
        </p:spPr>
      </p:pic>
    </p:spTree>
    <p:extLst>
      <p:ext uri="{BB962C8B-B14F-4D97-AF65-F5344CB8AC3E}">
        <p14:creationId xmlns:p14="http://schemas.microsoft.com/office/powerpoint/2010/main" val="70700767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Content Pictur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49CA573-97B6-8441-ACCC-A358C95F4CFF}"/>
              </a:ext>
            </a:extLst>
          </p:cNvPr>
          <p:cNvSpPr>
            <a:spLocks noGrp="1"/>
          </p:cNvSpPr>
          <p:nvPr>
            <p:ph type="pic" sz="quarter" idx="13"/>
          </p:nvPr>
        </p:nvSpPr>
        <p:spPr>
          <a:xfrm>
            <a:off x="6096000" y="0"/>
            <a:ext cx="5867400" cy="6858000"/>
          </a:xfrm>
          <a:prstGeom prst="rect">
            <a:avLst/>
          </a:prstGeom>
          <a:solidFill>
            <a:schemeClr val="bg2"/>
          </a:solidFill>
        </p:spPr>
        <p:txBody>
          <a:bodyPr wrap="square" anchor="ctr" anchorCtr="1"/>
          <a:lstStyle>
            <a:lvl1pPr marL="0" indent="0">
              <a:buNone/>
              <a:defRPr/>
            </a:lvl1pPr>
          </a:lstStyle>
          <a:p>
            <a:endParaRPr lang="en-US"/>
          </a:p>
        </p:txBody>
      </p:sp>
      <p:sp>
        <p:nvSpPr>
          <p:cNvPr id="12" name="Title 1">
            <a:extLst>
              <a:ext uri="{FF2B5EF4-FFF2-40B4-BE49-F238E27FC236}">
                <a16:creationId xmlns:a16="http://schemas.microsoft.com/office/drawing/2014/main" id="{FD7C8D47-68AA-9840-AED3-6F33D3FFDAD1}"/>
              </a:ext>
            </a:extLst>
          </p:cNvPr>
          <p:cNvSpPr>
            <a:spLocks noGrp="1"/>
          </p:cNvSpPr>
          <p:nvPr>
            <p:ph type="title"/>
          </p:nvPr>
        </p:nvSpPr>
        <p:spPr>
          <a:xfrm>
            <a:off x="609600" y="609600"/>
            <a:ext cx="4876800" cy="952500"/>
          </a:xfrm>
          <a:prstGeom prst="rect">
            <a:avLst/>
          </a:prstGeom>
        </p:spPr>
        <p:txBody>
          <a:bodyPr/>
          <a:lstStyle>
            <a:lvl1pPr>
              <a:defRPr sz="4800" b="1" i="0">
                <a:latin typeface="Montserrat" pitchFamily="2" charset="77"/>
              </a:defRPr>
            </a:lvl1pPr>
          </a:lstStyle>
          <a:p>
            <a:r>
              <a:rPr lang="en-US"/>
              <a:t>Click to edit Master title style</a:t>
            </a:r>
          </a:p>
        </p:txBody>
      </p:sp>
      <p:sp>
        <p:nvSpPr>
          <p:cNvPr id="11" name="Content Placeholder 2">
            <a:extLst>
              <a:ext uri="{FF2B5EF4-FFF2-40B4-BE49-F238E27FC236}">
                <a16:creationId xmlns:a16="http://schemas.microsoft.com/office/drawing/2014/main" id="{728E84A9-ED54-CD45-AB2C-AD7171B578E6}"/>
              </a:ext>
            </a:extLst>
          </p:cNvPr>
          <p:cNvSpPr>
            <a:spLocks noGrp="1"/>
          </p:cNvSpPr>
          <p:nvPr>
            <p:ph idx="1" hasCustomPrompt="1"/>
          </p:nvPr>
        </p:nvSpPr>
        <p:spPr>
          <a:xfrm>
            <a:off x="609600" y="2091343"/>
            <a:ext cx="4876800" cy="4682837"/>
          </a:xfrm>
          <a:prstGeom prst="rect">
            <a:avLst/>
          </a:prstGeom>
        </p:spPr>
        <p:txBody>
          <a:bodyPr/>
          <a:lstStyle>
            <a:lvl1pPr>
              <a:defRPr sz="2400"/>
            </a:lvl1pPr>
            <a:lvl2pPr marL="458788" indent="-165100">
              <a:tabLst/>
              <a:defRPr sz="2000"/>
            </a:lvl2pPr>
            <a:lvl3pPr marL="688975" indent="-174625">
              <a:tabLst/>
              <a:defRPr sz="1800"/>
            </a:lvl3pPr>
            <a:lvl4pPr marL="919163" indent="-174625">
              <a:tabLst/>
              <a:defRPr sz="1600"/>
            </a:lvl4pPr>
            <a:lvl5pPr marL="1149350" indent="-174625">
              <a:tabLst/>
              <a:defRPr sz="1400"/>
            </a:lvl5pPr>
          </a:lstStyle>
          <a:p>
            <a:pPr lvl="0"/>
            <a:r>
              <a:rPr lang="en-US"/>
              <a:t>Click to edit Master text styles</a:t>
            </a:r>
          </a:p>
        </p:txBody>
      </p:sp>
      <p:sp>
        <p:nvSpPr>
          <p:cNvPr id="13" name="Rectangle 12">
            <a:extLst>
              <a:ext uri="{FF2B5EF4-FFF2-40B4-BE49-F238E27FC236}">
                <a16:creationId xmlns:a16="http://schemas.microsoft.com/office/drawing/2014/main" id="{F712A86E-3D53-BE4F-80DE-98C520816837}"/>
              </a:ext>
              <a:ext uri="{C183D7F6-B498-43B3-948B-1728B52AA6E4}">
                <adec:decorative xmlns:adec="http://schemas.microsoft.com/office/drawing/2017/decorative" val="1"/>
              </a:ext>
            </a:extLst>
          </p:cNvPr>
          <p:cNvSpPr/>
          <p:nvPr/>
        </p:nvSpPr>
        <p:spPr>
          <a:xfrm rot="10800000">
            <a:off x="11963400" y="-3"/>
            <a:ext cx="228600"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ontserrat" pitchFamily="2" charset="77"/>
            </a:endParaRPr>
          </a:p>
        </p:txBody>
      </p:sp>
      <p:sp>
        <p:nvSpPr>
          <p:cNvPr id="14" name="Rectangle 8">
            <a:extLst>
              <a:ext uri="{FF2B5EF4-FFF2-40B4-BE49-F238E27FC236}">
                <a16:creationId xmlns:a16="http://schemas.microsoft.com/office/drawing/2014/main" id="{8A407743-09FE-6444-A0B0-B08DE099D407}"/>
              </a:ext>
            </a:extLst>
          </p:cNvPr>
          <p:cNvSpPr/>
          <p:nvPr/>
        </p:nvSpPr>
        <p:spPr>
          <a:xfrm rot="10800000">
            <a:off x="11963400" y="2596584"/>
            <a:ext cx="228599" cy="999792"/>
          </a:xfrm>
          <a:custGeom>
            <a:avLst/>
            <a:gdLst>
              <a:gd name="connsiteX0" fmla="*/ 0 w 228600"/>
              <a:gd name="connsiteY0" fmla="*/ 0 h 999794"/>
              <a:gd name="connsiteX1" fmla="*/ 228600 w 228600"/>
              <a:gd name="connsiteY1" fmla="*/ 0 h 999794"/>
              <a:gd name="connsiteX2" fmla="*/ 228600 w 228600"/>
              <a:gd name="connsiteY2" fmla="*/ 999794 h 999794"/>
              <a:gd name="connsiteX3" fmla="*/ 0 w 228600"/>
              <a:gd name="connsiteY3" fmla="*/ 999794 h 999794"/>
              <a:gd name="connsiteX4" fmla="*/ 0 w 228600"/>
              <a:gd name="connsiteY4" fmla="*/ 0 h 999794"/>
              <a:gd name="connsiteX0" fmla="*/ 0 w 228600"/>
              <a:gd name="connsiteY0" fmla="*/ 0 h 999794"/>
              <a:gd name="connsiteX1" fmla="*/ 228600 w 228600"/>
              <a:gd name="connsiteY1" fmla="*/ 0 h 999794"/>
              <a:gd name="connsiteX2" fmla="*/ 228600 w 228600"/>
              <a:gd name="connsiteY2" fmla="*/ 752144 h 999794"/>
              <a:gd name="connsiteX3" fmla="*/ 0 w 228600"/>
              <a:gd name="connsiteY3" fmla="*/ 999794 h 999794"/>
              <a:gd name="connsiteX4" fmla="*/ 0 w 228600"/>
              <a:gd name="connsiteY4" fmla="*/ 0 h 999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999794">
                <a:moveTo>
                  <a:pt x="0" y="0"/>
                </a:moveTo>
                <a:lnTo>
                  <a:pt x="228600" y="0"/>
                </a:lnTo>
                <a:lnTo>
                  <a:pt x="228600" y="752144"/>
                </a:lnTo>
                <a:lnTo>
                  <a:pt x="0" y="999794"/>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ontserrat" pitchFamily="2" charset="77"/>
            </a:endParaRPr>
          </a:p>
        </p:txBody>
      </p:sp>
      <p:sp>
        <p:nvSpPr>
          <p:cNvPr id="15" name="Rectangle 14">
            <a:extLst>
              <a:ext uri="{FF2B5EF4-FFF2-40B4-BE49-F238E27FC236}">
                <a16:creationId xmlns:a16="http://schemas.microsoft.com/office/drawing/2014/main" id="{29D4FB76-A8C5-CA40-B160-9F2076C350F4}"/>
              </a:ext>
              <a:ext uri="{C183D7F6-B498-43B3-948B-1728B52AA6E4}">
                <adec:decorative xmlns:adec="http://schemas.microsoft.com/office/drawing/2017/decorative" val="1"/>
              </a:ext>
            </a:extLst>
          </p:cNvPr>
          <p:cNvSpPr/>
          <p:nvPr userDrawn="1"/>
        </p:nvSpPr>
        <p:spPr>
          <a:xfrm rot="10800000">
            <a:off x="11963399" y="3374728"/>
            <a:ext cx="228600" cy="34832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ontserrat" pitchFamily="2" charset="77"/>
            </a:endParaRPr>
          </a:p>
        </p:txBody>
      </p:sp>
    </p:spTree>
    <p:extLst>
      <p:ext uri="{BB962C8B-B14F-4D97-AF65-F5344CB8AC3E}">
        <p14:creationId xmlns:p14="http://schemas.microsoft.com/office/powerpoint/2010/main" val="37265935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4" name="Picture 3" descr="Metro State University">
            <a:extLst>
              <a:ext uri="{FF2B5EF4-FFF2-40B4-BE49-F238E27FC236}">
                <a16:creationId xmlns:a16="http://schemas.microsoft.com/office/drawing/2014/main" id="{094ACAB6-E251-284C-82A2-2463FE1D6AC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605051" y="249481"/>
            <a:ext cx="1326981" cy="870087"/>
          </a:xfrm>
          <a:prstGeom prst="rect">
            <a:avLst/>
          </a:prstGeom>
        </p:spPr>
      </p:pic>
      <p:sp>
        <p:nvSpPr>
          <p:cNvPr id="5" name="Title 1">
            <a:extLst>
              <a:ext uri="{FF2B5EF4-FFF2-40B4-BE49-F238E27FC236}">
                <a16:creationId xmlns:a16="http://schemas.microsoft.com/office/drawing/2014/main" id="{E10189C6-37FC-1244-B5E7-E32C486BA841}"/>
              </a:ext>
            </a:extLst>
          </p:cNvPr>
          <p:cNvSpPr>
            <a:spLocks noGrp="1"/>
          </p:cNvSpPr>
          <p:nvPr>
            <p:ph type="title" hasCustomPrompt="1"/>
          </p:nvPr>
        </p:nvSpPr>
        <p:spPr>
          <a:xfrm>
            <a:off x="609600" y="1119568"/>
            <a:ext cx="10972800" cy="955963"/>
          </a:xfrm>
          <a:prstGeom prst="rect">
            <a:avLst/>
          </a:prstGeom>
        </p:spPr>
        <p:txBody>
          <a:bodyPr/>
          <a:lstStyle>
            <a:lvl1pPr>
              <a:defRPr sz="4800" b="1" i="0">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3183754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Large Tex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6723B-5CDF-9A4F-B465-63362E53592A}"/>
              </a:ext>
            </a:extLst>
          </p:cNvPr>
          <p:cNvSpPr>
            <a:spLocks noGrp="1"/>
          </p:cNvSpPr>
          <p:nvPr>
            <p:ph type="title"/>
          </p:nvPr>
        </p:nvSpPr>
        <p:spPr>
          <a:xfrm>
            <a:off x="609600" y="609600"/>
            <a:ext cx="10972800" cy="5638800"/>
          </a:xfrm>
          <a:prstGeom prst="rect">
            <a:avLst/>
          </a:prstGeom>
        </p:spPr>
        <p:txBody>
          <a:bodyPr anchor="ctr" anchorCtr="1"/>
          <a:lstStyle>
            <a:lvl1pPr algn="ctr">
              <a:defRPr sz="4400" b="1" i="0">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2266285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1B9F63-2AE7-A740-B07D-915B0CC30FDC}"/>
              </a:ext>
            </a:extLst>
          </p:cNvPr>
          <p:cNvSpPr txBox="1"/>
          <p:nvPr userDrawn="1"/>
        </p:nvSpPr>
        <p:spPr>
          <a:xfrm>
            <a:off x="3526971" y="1219200"/>
            <a:ext cx="184731" cy="369332"/>
          </a:xfrm>
          <a:prstGeom prst="rect">
            <a:avLst/>
          </a:prstGeom>
          <a:noFill/>
        </p:spPr>
        <p:txBody>
          <a:bodyPr wrap="none" rtlCol="0">
            <a:spAutoFit/>
          </a:bodyPr>
          <a:lstStyle/>
          <a:p>
            <a:endParaRPr lang="en-US" b="0" i="0">
              <a:latin typeface="Montserrat" pitchFamily="2" charset="77"/>
            </a:endParaRPr>
          </a:p>
        </p:txBody>
      </p:sp>
    </p:spTree>
    <p:extLst>
      <p:ext uri="{BB962C8B-B14F-4D97-AF65-F5344CB8AC3E}">
        <p14:creationId xmlns:p14="http://schemas.microsoft.com/office/powerpoint/2010/main" val="1127382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1_Thank Yo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EFC10-EEDB-AE46-9546-B1C1360F3777}"/>
              </a:ext>
            </a:extLst>
          </p:cNvPr>
          <p:cNvSpPr>
            <a:spLocks noGrp="1"/>
          </p:cNvSpPr>
          <p:nvPr>
            <p:ph type="title"/>
          </p:nvPr>
        </p:nvSpPr>
        <p:spPr>
          <a:xfrm>
            <a:off x="609600" y="2862263"/>
            <a:ext cx="10515600" cy="1133475"/>
          </a:xfrm>
          <a:prstGeom prst="rect">
            <a:avLst/>
          </a:prstGeom>
        </p:spPr>
        <p:txBody>
          <a:bodyPr anchor="ctr" anchorCtr="0"/>
          <a:lstStyle>
            <a:lvl1pPr algn="ctr">
              <a:defRPr sz="4800" b="1" i="0">
                <a:solidFill>
                  <a:schemeClr val="accent1"/>
                </a:solidFill>
                <a:latin typeface="Montserrat" pitchFamily="2" charset="77"/>
              </a:defRPr>
            </a:lvl1pPr>
          </a:lstStyle>
          <a:p>
            <a:r>
              <a:rPr lang="en-US"/>
              <a:t>Click to edit Master title style</a:t>
            </a:r>
          </a:p>
        </p:txBody>
      </p:sp>
      <p:sp>
        <p:nvSpPr>
          <p:cNvPr id="3" name="Text Placeholder 2">
            <a:extLst>
              <a:ext uri="{FF2B5EF4-FFF2-40B4-BE49-F238E27FC236}">
                <a16:creationId xmlns:a16="http://schemas.microsoft.com/office/drawing/2014/main" id="{DA11E492-9BB5-B440-A7DD-EBC8AC44DB88}"/>
              </a:ext>
            </a:extLst>
          </p:cNvPr>
          <p:cNvSpPr>
            <a:spLocks noGrp="1"/>
          </p:cNvSpPr>
          <p:nvPr>
            <p:ph type="body" idx="1"/>
          </p:nvPr>
        </p:nvSpPr>
        <p:spPr>
          <a:xfrm>
            <a:off x="609600" y="4338798"/>
            <a:ext cx="5486400" cy="1909602"/>
          </a:xfrm>
          <a:prstGeom prst="rect">
            <a:avLst/>
          </a:prstGeom>
        </p:spPr>
        <p:txBody>
          <a:bodyPr anchor="b" anchorCtr="0"/>
          <a:lstStyle>
            <a:lvl1pPr marL="0" indent="0">
              <a:spcBef>
                <a:spcPts val="0"/>
              </a:spcBef>
              <a:spcAft>
                <a:spcPts val="300"/>
              </a:spcAft>
              <a:buNone/>
              <a:defRPr sz="1200" b="0" i="0">
                <a:solidFill>
                  <a:schemeClr val="tx1"/>
                </a:solidFill>
                <a:latin typeface="Montserrat Medium"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6" name="Picture 5" descr="Metro State University">
            <a:extLst>
              <a:ext uri="{FF2B5EF4-FFF2-40B4-BE49-F238E27FC236}">
                <a16:creationId xmlns:a16="http://schemas.microsoft.com/office/drawing/2014/main" id="{A4C4FE51-E9E1-614D-8DF0-A984CF6F83A6}"/>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605051" y="249481"/>
            <a:ext cx="1326981" cy="870087"/>
          </a:xfrm>
          <a:prstGeom prst="rect">
            <a:avLst/>
          </a:prstGeom>
        </p:spPr>
      </p:pic>
    </p:spTree>
    <p:extLst>
      <p:ext uri="{BB962C8B-B14F-4D97-AF65-F5344CB8AC3E}">
        <p14:creationId xmlns:p14="http://schemas.microsoft.com/office/powerpoint/2010/main" val="4186748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2475F-1990-344F-863A-ED9B43FAB3C5}"/>
              </a:ext>
            </a:extLst>
          </p:cNvPr>
          <p:cNvSpPr>
            <a:spLocks noGrp="1"/>
          </p:cNvSpPr>
          <p:nvPr>
            <p:ph type="title"/>
          </p:nvPr>
        </p:nvSpPr>
        <p:spPr>
          <a:xfrm>
            <a:off x="609600" y="609600"/>
            <a:ext cx="10972800" cy="1071418"/>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AD1E075B-9914-3C4B-961A-E19923D66A2A}"/>
              </a:ext>
            </a:extLst>
          </p:cNvPr>
          <p:cNvSpPr>
            <a:spLocks noGrp="1"/>
          </p:cNvSpPr>
          <p:nvPr>
            <p:ph type="body" idx="1"/>
          </p:nvPr>
        </p:nvSpPr>
        <p:spPr>
          <a:xfrm>
            <a:off x="609599" y="1681018"/>
            <a:ext cx="10972799" cy="456738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1143605"/>
      </p:ext>
    </p:extLst>
  </p:cSld>
  <p:clrMap bg1="lt1" tx1="dk1" bg2="lt2" tx2="dk2" accent1="accent1" accent2="accent2" accent3="accent3" accent4="accent4" accent5="accent5" accent6="accent6" hlink="hlink" folHlink="folHlink"/>
  <p:sldLayoutIdLst>
    <p:sldLayoutId id="2147483667" r:id="rId1"/>
    <p:sldLayoutId id="2147483651" r:id="rId2"/>
    <p:sldLayoutId id="2147483662" r:id="rId3"/>
    <p:sldLayoutId id="2147483650" r:id="rId4"/>
    <p:sldLayoutId id="2147483652" r:id="rId5"/>
    <p:sldLayoutId id="2147483663" r:id="rId6"/>
    <p:sldLayoutId id="2147483654" r:id="rId7"/>
    <p:sldLayoutId id="2147483655" r:id="rId8"/>
    <p:sldLayoutId id="2147483664" r:id="rId9"/>
  </p:sldLayoutIdLst>
  <p:hf hdr="0" ftr="0"/>
  <p:txStyles>
    <p:titleStyle>
      <a:lvl1pPr algn="l" defTabSz="914400" rtl="0" eaLnBrk="1" latinLnBrk="0" hangingPunct="1">
        <a:lnSpc>
          <a:spcPct val="90000"/>
        </a:lnSpc>
        <a:spcBef>
          <a:spcPct val="0"/>
        </a:spcBef>
        <a:buNone/>
        <a:defRPr sz="4800" b="1" i="0" kern="1200">
          <a:solidFill>
            <a:schemeClr val="tx1"/>
          </a:solidFill>
          <a:latin typeface="Montserrat"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b="0" i="0" kern="1200">
          <a:solidFill>
            <a:schemeClr val="tx1"/>
          </a:solidFill>
          <a:latin typeface="Montserrat" pitchFamily="2" charset="77"/>
          <a:ea typeface="+mn-ea"/>
          <a:cs typeface="+mn-cs"/>
        </a:defRPr>
      </a:lvl1pPr>
      <a:lvl2pPr marL="579438" indent="-230188" algn="l" defTabSz="914400" rtl="0" eaLnBrk="1" latinLnBrk="0" hangingPunct="1">
        <a:lnSpc>
          <a:spcPct val="90000"/>
        </a:lnSpc>
        <a:spcBef>
          <a:spcPts val="500"/>
        </a:spcBef>
        <a:buFont typeface="Arial" panose="020B0604020202020204" pitchFamily="34" charset="0"/>
        <a:buChar char="•"/>
        <a:tabLst/>
        <a:defRPr sz="2400" b="0" i="0" kern="1200">
          <a:solidFill>
            <a:schemeClr val="tx1"/>
          </a:solidFill>
          <a:latin typeface="Montserrat" pitchFamily="2" charset="77"/>
          <a:ea typeface="+mn-ea"/>
          <a:cs typeface="+mn-cs"/>
        </a:defRPr>
      </a:lvl2pPr>
      <a:lvl3pPr marL="863600" indent="-174625" algn="l" defTabSz="914400" rtl="0" eaLnBrk="1" latinLnBrk="0" hangingPunct="1">
        <a:lnSpc>
          <a:spcPct val="90000"/>
        </a:lnSpc>
        <a:spcBef>
          <a:spcPts val="500"/>
        </a:spcBef>
        <a:buFont typeface="Arial" panose="020B0604020202020204" pitchFamily="34" charset="0"/>
        <a:buChar char="•"/>
        <a:tabLst/>
        <a:defRPr sz="2000" b="0" i="0" kern="1200">
          <a:solidFill>
            <a:schemeClr val="tx1"/>
          </a:solidFill>
          <a:latin typeface="Montserrat" pitchFamily="2" charset="77"/>
          <a:ea typeface="+mn-ea"/>
          <a:cs typeface="+mn-cs"/>
        </a:defRPr>
      </a:lvl3pPr>
      <a:lvl4pPr marL="1204913" indent="-174625" algn="l" defTabSz="914400" rtl="0" eaLnBrk="1" latinLnBrk="0" hangingPunct="1">
        <a:lnSpc>
          <a:spcPct val="90000"/>
        </a:lnSpc>
        <a:spcBef>
          <a:spcPts val="500"/>
        </a:spcBef>
        <a:buFont typeface="Arial" panose="020B0604020202020204" pitchFamily="34" charset="0"/>
        <a:buChar char="•"/>
        <a:tabLst/>
        <a:defRPr sz="1800" b="0" i="0" kern="1200">
          <a:solidFill>
            <a:schemeClr val="tx1"/>
          </a:solidFill>
          <a:latin typeface="Montserrat" pitchFamily="2" charset="77"/>
          <a:ea typeface="+mn-ea"/>
          <a:cs typeface="+mn-cs"/>
        </a:defRPr>
      </a:lvl4pPr>
      <a:lvl5pPr marL="1490663" indent="-176213" algn="l" defTabSz="914400" rtl="0" eaLnBrk="1" latinLnBrk="0" hangingPunct="1">
        <a:lnSpc>
          <a:spcPct val="90000"/>
        </a:lnSpc>
        <a:spcBef>
          <a:spcPts val="500"/>
        </a:spcBef>
        <a:buFont typeface="Arial" panose="020B0604020202020204" pitchFamily="34" charset="0"/>
        <a:buChar char="•"/>
        <a:tabLst/>
        <a:defRPr sz="180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144" userDrawn="1">
          <p15:clr>
            <a:srgbClr val="F26B43"/>
          </p15:clr>
        </p15:guide>
        <p15:guide id="4" pos="7536" userDrawn="1">
          <p15:clr>
            <a:srgbClr val="F26B43"/>
          </p15:clr>
        </p15:guide>
        <p15:guide id="5" orient="horz" pos="144" userDrawn="1">
          <p15:clr>
            <a:srgbClr val="F26B43"/>
          </p15:clr>
        </p15:guide>
        <p15:guide id="6" orient="horz" pos="4176" userDrawn="1">
          <p15:clr>
            <a:srgbClr val="F26B43"/>
          </p15:clr>
        </p15:guide>
        <p15:guide id="7" pos="384" userDrawn="1">
          <p15:clr>
            <a:srgbClr val="F26B43"/>
          </p15:clr>
        </p15:guide>
        <p15:guide id="8" pos="7296" userDrawn="1">
          <p15:clr>
            <a:srgbClr val="F26B43"/>
          </p15:clr>
        </p15:guide>
        <p15:guide id="9" orient="horz" pos="744" userDrawn="1">
          <p15:clr>
            <a:srgbClr val="F26B43"/>
          </p15:clr>
        </p15:guide>
        <p15:guide id="10" orient="horz" pos="3936" userDrawn="1">
          <p15:clr>
            <a:srgbClr val="F26B43"/>
          </p15:clr>
        </p15:guide>
        <p15:guide id="11" pos="3456" userDrawn="1">
          <p15:clr>
            <a:srgbClr val="F26B43"/>
          </p15:clr>
        </p15:guide>
        <p15:guide id="12" orient="horz" pos="984" userDrawn="1">
          <p15:clr>
            <a:srgbClr val="F26B43"/>
          </p15:clr>
        </p15:guide>
        <p15:guide id="13" orient="horz"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957FF81-3E34-4073-BF50-FE78B3EBEE2E}" type="slidenum">
              <a:rPr lang="en-US" smtClean="0"/>
              <a:pPr/>
              <a:t>1</a:t>
            </a:fld>
            <a:endParaRPr lang="en-US"/>
          </a:p>
        </p:txBody>
      </p:sp>
      <p:pic>
        <p:nvPicPr>
          <p:cNvPr id="1026" name="Picture 2">
            <a:extLst>
              <a:ext uri="{FF2B5EF4-FFF2-40B4-BE49-F238E27FC236}">
                <a16:creationId xmlns:a16="http://schemas.microsoft.com/office/drawing/2014/main" id="{7733C446-3E4C-43DC-B37E-8A9F82F201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722" y="47707"/>
            <a:ext cx="5895278" cy="188648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4B75F4E-26DC-43F6-A41B-A25008A97839}"/>
              </a:ext>
            </a:extLst>
          </p:cNvPr>
          <p:cNvSpPr txBox="1"/>
          <p:nvPr/>
        </p:nvSpPr>
        <p:spPr>
          <a:xfrm>
            <a:off x="299224" y="3482262"/>
            <a:ext cx="5698273" cy="726224"/>
          </a:xfrm>
          <a:prstGeom prst="rect">
            <a:avLst/>
          </a:prstGeom>
          <a:noFill/>
        </p:spPr>
        <p:txBody>
          <a:bodyPr wrap="square" lIns="91440" tIns="45720" rIns="91440" bIns="45720" rtlCol="0" anchor="t">
            <a:spAutoFit/>
          </a:bodyPr>
          <a:lstStyle/>
          <a:p>
            <a:pPr algn="l">
              <a:lnSpc>
                <a:spcPts val="5800"/>
              </a:lnSpc>
            </a:pPr>
            <a:r>
              <a:rPr lang="en-US" sz="2400" b="1" dirty="0">
                <a:solidFill>
                  <a:schemeClr val="accent6">
                    <a:lumMod val="75000"/>
                  </a:schemeClr>
                </a:solidFill>
                <a:latin typeface="Montserrat"/>
              </a:rPr>
              <a:t>Presenters: Clarence Campbell</a:t>
            </a:r>
          </a:p>
        </p:txBody>
      </p:sp>
      <p:sp>
        <p:nvSpPr>
          <p:cNvPr id="3" name="TextBox 2">
            <a:extLst>
              <a:ext uri="{FF2B5EF4-FFF2-40B4-BE49-F238E27FC236}">
                <a16:creationId xmlns:a16="http://schemas.microsoft.com/office/drawing/2014/main" id="{4123CA18-F601-AD39-40D6-927A5B25D122}"/>
              </a:ext>
            </a:extLst>
          </p:cNvPr>
          <p:cNvSpPr txBox="1"/>
          <p:nvPr/>
        </p:nvSpPr>
        <p:spPr>
          <a:xfrm>
            <a:off x="299224" y="2256596"/>
            <a:ext cx="7619999" cy="1470018"/>
          </a:xfrm>
          <a:prstGeom prst="rect">
            <a:avLst/>
          </a:prstGeom>
          <a:noFill/>
        </p:spPr>
        <p:txBody>
          <a:bodyPr wrap="square" lIns="91440" tIns="45720" rIns="91440" bIns="45720" rtlCol="0" anchor="t">
            <a:spAutoFit/>
          </a:bodyPr>
          <a:lstStyle/>
          <a:p>
            <a:pPr>
              <a:lnSpc>
                <a:spcPts val="5800"/>
              </a:lnSpc>
            </a:pPr>
            <a:endParaRPr lang="en-US" b="1" dirty="0">
              <a:solidFill>
                <a:schemeClr val="accent5"/>
              </a:solidFill>
            </a:endParaRPr>
          </a:p>
          <a:p>
            <a:pPr>
              <a:lnSpc>
                <a:spcPts val="5800"/>
              </a:lnSpc>
            </a:pPr>
            <a:r>
              <a:rPr lang="en-US" sz="2400" b="1" dirty="0">
                <a:solidFill>
                  <a:schemeClr val="accent5"/>
                </a:solidFill>
                <a:latin typeface="Montserrat"/>
              </a:rPr>
              <a:t>Week 15 pitch-698 Capstone </a:t>
            </a:r>
            <a:endParaRPr lang="en-US" sz="2800" b="1" dirty="0">
              <a:solidFill>
                <a:schemeClr val="accent5"/>
              </a:solidFill>
              <a:latin typeface="Montserrat"/>
            </a:endParaRPr>
          </a:p>
        </p:txBody>
      </p:sp>
    </p:spTree>
    <p:extLst>
      <p:ext uri="{BB962C8B-B14F-4D97-AF65-F5344CB8AC3E}">
        <p14:creationId xmlns:p14="http://schemas.microsoft.com/office/powerpoint/2010/main" val="2707747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0B25-7D3C-4B1C-8932-D892FD81019E}"/>
              </a:ext>
            </a:extLst>
          </p:cNvPr>
          <p:cNvSpPr>
            <a:spLocks noGrp="1"/>
          </p:cNvSpPr>
          <p:nvPr>
            <p:ph type="title"/>
          </p:nvPr>
        </p:nvSpPr>
        <p:spPr>
          <a:xfrm>
            <a:off x="585076" y="1279138"/>
            <a:ext cx="7920295" cy="723834"/>
          </a:xfrm>
        </p:spPr>
        <p:txBody>
          <a:bodyPr/>
          <a:lstStyle/>
          <a:p>
            <a:r>
              <a:rPr lang="en-US" dirty="0"/>
              <a:t>Why Now / Significance</a:t>
            </a:r>
          </a:p>
        </p:txBody>
      </p:sp>
      <p:pic>
        <p:nvPicPr>
          <p:cNvPr id="4" name="Picture 2">
            <a:extLst>
              <a:ext uri="{FF2B5EF4-FFF2-40B4-BE49-F238E27FC236}">
                <a16:creationId xmlns:a16="http://schemas.microsoft.com/office/drawing/2014/main" id="{EE02398B-DBAE-4221-B2E8-464B697FD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7161" y="225144"/>
            <a:ext cx="3234195" cy="103494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1">
            <a:extLst>
              <a:ext uri="{FF2B5EF4-FFF2-40B4-BE49-F238E27FC236}">
                <a16:creationId xmlns:a16="http://schemas.microsoft.com/office/drawing/2014/main" id="{36700872-960D-2A27-D150-6640C4B5D43B}"/>
              </a:ext>
            </a:extLst>
          </p:cNvPr>
          <p:cNvSpPr>
            <a:spLocks noGrp="1" noChangeArrowheads="1"/>
          </p:cNvSpPr>
          <p:nvPr>
            <p:ph type="body" idx="1"/>
          </p:nvPr>
        </p:nvSpPr>
        <p:spPr bwMode="auto">
          <a:xfrm>
            <a:off x="585076" y="2662538"/>
            <a:ext cx="1057887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Ransomware remains one of the most disruptive threats to state/local organizations.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Lack of asset visibility and weak monitoring create blind spots attackers exploit.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1" u="none" strike="noStrike" cap="none" normalizeH="0" baseline="0" dirty="0">
                <a:ln>
                  <a:noFill/>
                </a:ln>
                <a:solidFill>
                  <a:schemeClr val="tx1"/>
                </a:solidFill>
                <a:effectLst/>
                <a:latin typeface="Arial" panose="020B0604020202020204" pitchFamily="34" charset="0"/>
              </a:rPr>
              <a:t>48% of U.S. K–12 districts report compromised devices linked to unmanaged assets</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(Week 4/5 evidence).</a:t>
            </a:r>
          </a:p>
        </p:txBody>
      </p:sp>
    </p:spTree>
    <p:extLst>
      <p:ext uri="{BB962C8B-B14F-4D97-AF65-F5344CB8AC3E}">
        <p14:creationId xmlns:p14="http://schemas.microsoft.com/office/powerpoint/2010/main" val="814257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0B25-7D3C-4B1C-8932-D892FD81019E}"/>
              </a:ext>
            </a:extLst>
          </p:cNvPr>
          <p:cNvSpPr>
            <a:spLocks noGrp="1"/>
          </p:cNvSpPr>
          <p:nvPr>
            <p:ph type="title"/>
          </p:nvPr>
        </p:nvSpPr>
        <p:spPr>
          <a:xfrm>
            <a:off x="585076" y="1269443"/>
            <a:ext cx="10515600" cy="1133475"/>
          </a:xfrm>
        </p:spPr>
        <p:txBody>
          <a:bodyPr/>
          <a:lstStyle/>
          <a:p>
            <a:r>
              <a:rPr lang="en-US" dirty="0"/>
              <a:t>Evidence Snapshot (Prior Work)</a:t>
            </a:r>
          </a:p>
        </p:txBody>
      </p:sp>
      <p:pic>
        <p:nvPicPr>
          <p:cNvPr id="4" name="Picture 2">
            <a:extLst>
              <a:ext uri="{FF2B5EF4-FFF2-40B4-BE49-F238E27FC236}">
                <a16:creationId xmlns:a16="http://schemas.microsoft.com/office/drawing/2014/main" id="{EE02398B-DBAE-4221-B2E8-464B697FD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7161" y="225144"/>
            <a:ext cx="3234195" cy="103494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4DF9BA51-2274-F15E-469E-A58705E6C9E6}"/>
              </a:ext>
            </a:extLst>
          </p:cNvPr>
          <p:cNvGraphicFramePr>
            <a:graphicFrameLocks noGrp="1"/>
          </p:cNvGraphicFramePr>
          <p:nvPr>
            <p:extLst>
              <p:ext uri="{D42A27DB-BD31-4B8C-83A1-F6EECF244321}">
                <p14:modId xmlns:p14="http://schemas.microsoft.com/office/powerpoint/2010/main" val="2444205439"/>
              </p:ext>
            </p:extLst>
          </p:nvPr>
        </p:nvGraphicFramePr>
        <p:xfrm>
          <a:off x="609600" y="3119560"/>
          <a:ext cx="10972800" cy="3811075"/>
        </p:xfrm>
        <a:graphic>
          <a:graphicData uri="http://schemas.openxmlformats.org/drawingml/2006/table">
            <a:tbl>
              <a:tblPr/>
              <a:tblGrid>
                <a:gridCol w="3657600">
                  <a:extLst>
                    <a:ext uri="{9D8B030D-6E8A-4147-A177-3AD203B41FA5}">
                      <a16:colId xmlns:a16="http://schemas.microsoft.com/office/drawing/2014/main" val="1773746515"/>
                    </a:ext>
                  </a:extLst>
                </a:gridCol>
                <a:gridCol w="3657600">
                  <a:extLst>
                    <a:ext uri="{9D8B030D-6E8A-4147-A177-3AD203B41FA5}">
                      <a16:colId xmlns:a16="http://schemas.microsoft.com/office/drawing/2014/main" val="2759765450"/>
                    </a:ext>
                  </a:extLst>
                </a:gridCol>
                <a:gridCol w="3657600">
                  <a:extLst>
                    <a:ext uri="{9D8B030D-6E8A-4147-A177-3AD203B41FA5}">
                      <a16:colId xmlns:a16="http://schemas.microsoft.com/office/drawing/2014/main" val="1153845568"/>
                    </a:ext>
                  </a:extLst>
                </a:gridCol>
              </a:tblGrid>
              <a:tr h="609772">
                <a:tc>
                  <a:txBody>
                    <a:bodyPr/>
                    <a:lstStyle/>
                    <a:p>
                      <a:pPr>
                        <a:buNone/>
                      </a:pPr>
                      <a:r>
                        <a:rPr lang="en-US" sz="2000" dirty="0"/>
                        <a:t>Source</a:t>
                      </a:r>
                    </a:p>
                  </a:txBody>
                  <a:tcPr anchor="ctr">
                    <a:lnL>
                      <a:noFill/>
                    </a:lnL>
                    <a:lnR>
                      <a:noFill/>
                    </a:lnR>
                    <a:lnT>
                      <a:noFill/>
                    </a:lnT>
                    <a:lnB>
                      <a:noFill/>
                    </a:lnB>
                    <a:noFill/>
                  </a:tcPr>
                </a:tc>
                <a:tc>
                  <a:txBody>
                    <a:bodyPr/>
                    <a:lstStyle/>
                    <a:p>
                      <a:pPr>
                        <a:buNone/>
                      </a:pPr>
                      <a:r>
                        <a:rPr lang="en-US" sz="2000"/>
                        <a:t>Year</a:t>
                      </a:r>
                    </a:p>
                  </a:txBody>
                  <a:tcPr anchor="ctr">
                    <a:lnL>
                      <a:noFill/>
                    </a:lnL>
                    <a:lnR>
                      <a:noFill/>
                    </a:lnR>
                    <a:lnT>
                      <a:noFill/>
                    </a:lnT>
                    <a:lnB>
                      <a:noFill/>
                    </a:lnB>
                    <a:noFill/>
                  </a:tcPr>
                </a:tc>
                <a:tc>
                  <a:txBody>
                    <a:bodyPr/>
                    <a:lstStyle/>
                    <a:p>
                      <a:pPr>
                        <a:buNone/>
                      </a:pPr>
                      <a:r>
                        <a:rPr lang="en-US" sz="2000"/>
                        <a:t>Key Insight</a:t>
                      </a:r>
                    </a:p>
                  </a:txBody>
                  <a:tcPr anchor="ctr">
                    <a:lnL>
                      <a:noFill/>
                    </a:lnL>
                    <a:lnR>
                      <a:noFill/>
                    </a:lnR>
                    <a:lnT>
                      <a:noFill/>
                    </a:lnT>
                    <a:lnB>
                      <a:noFill/>
                    </a:lnB>
                    <a:noFill/>
                  </a:tcPr>
                </a:tc>
                <a:extLst>
                  <a:ext uri="{0D108BD9-81ED-4DB2-BD59-A6C34878D82A}">
                    <a16:rowId xmlns:a16="http://schemas.microsoft.com/office/drawing/2014/main" val="1362009565"/>
                  </a:ext>
                </a:extLst>
              </a:tr>
              <a:tr h="1067101">
                <a:tc>
                  <a:txBody>
                    <a:bodyPr/>
                    <a:lstStyle/>
                    <a:p>
                      <a:pPr>
                        <a:buNone/>
                      </a:pPr>
                      <a:r>
                        <a:rPr lang="en-US" sz="2000" dirty="0"/>
                        <a:t>Verizon DBIR</a:t>
                      </a:r>
                    </a:p>
                  </a:txBody>
                  <a:tcPr anchor="ctr">
                    <a:lnL>
                      <a:noFill/>
                    </a:lnL>
                    <a:lnR>
                      <a:noFill/>
                    </a:lnR>
                    <a:lnT>
                      <a:noFill/>
                    </a:lnT>
                    <a:lnB>
                      <a:noFill/>
                    </a:lnB>
                    <a:noFill/>
                  </a:tcPr>
                </a:tc>
                <a:tc>
                  <a:txBody>
                    <a:bodyPr/>
                    <a:lstStyle/>
                    <a:p>
                      <a:pPr>
                        <a:buNone/>
                      </a:pPr>
                      <a:r>
                        <a:rPr lang="en-US" sz="2000" dirty="0"/>
                        <a:t>2024</a:t>
                      </a:r>
                    </a:p>
                  </a:txBody>
                  <a:tcPr anchor="ctr">
                    <a:lnL>
                      <a:noFill/>
                    </a:lnL>
                    <a:lnR>
                      <a:noFill/>
                    </a:lnR>
                    <a:lnT>
                      <a:noFill/>
                    </a:lnT>
                    <a:lnB>
                      <a:noFill/>
                    </a:lnB>
                    <a:noFill/>
                  </a:tcPr>
                </a:tc>
                <a:tc>
                  <a:txBody>
                    <a:bodyPr/>
                    <a:lstStyle/>
                    <a:p>
                      <a:pPr>
                        <a:buNone/>
                      </a:pPr>
                      <a:r>
                        <a:rPr lang="en-US" sz="2000"/>
                        <a:t>Misconfigured assets drive 68% of initial access events.</a:t>
                      </a:r>
                    </a:p>
                  </a:txBody>
                  <a:tcPr anchor="ctr">
                    <a:lnL>
                      <a:noFill/>
                    </a:lnL>
                    <a:lnR>
                      <a:noFill/>
                    </a:lnR>
                    <a:lnT>
                      <a:noFill/>
                    </a:lnT>
                    <a:lnB>
                      <a:noFill/>
                    </a:lnB>
                    <a:noFill/>
                  </a:tcPr>
                </a:tc>
                <a:extLst>
                  <a:ext uri="{0D108BD9-81ED-4DB2-BD59-A6C34878D82A}">
                    <a16:rowId xmlns:a16="http://schemas.microsoft.com/office/drawing/2014/main" val="2822768354"/>
                  </a:ext>
                </a:extLst>
              </a:tr>
              <a:tr h="1067101">
                <a:tc>
                  <a:txBody>
                    <a:bodyPr/>
                    <a:lstStyle/>
                    <a:p>
                      <a:pPr>
                        <a:buNone/>
                      </a:pPr>
                      <a:r>
                        <a:rPr lang="en-US" sz="2000"/>
                        <a:t>CISA MS-ISAC</a:t>
                      </a:r>
                    </a:p>
                  </a:txBody>
                  <a:tcPr anchor="ctr">
                    <a:lnL>
                      <a:noFill/>
                    </a:lnL>
                    <a:lnR>
                      <a:noFill/>
                    </a:lnR>
                    <a:lnT>
                      <a:noFill/>
                    </a:lnT>
                    <a:lnB>
                      <a:noFill/>
                    </a:lnB>
                    <a:noFill/>
                  </a:tcPr>
                </a:tc>
                <a:tc>
                  <a:txBody>
                    <a:bodyPr/>
                    <a:lstStyle/>
                    <a:p>
                      <a:pPr>
                        <a:buNone/>
                      </a:pPr>
                      <a:r>
                        <a:rPr lang="en-US" sz="2000"/>
                        <a:t>2023</a:t>
                      </a:r>
                    </a:p>
                  </a:txBody>
                  <a:tcPr anchor="ctr">
                    <a:lnL>
                      <a:noFill/>
                    </a:lnL>
                    <a:lnR>
                      <a:noFill/>
                    </a:lnR>
                    <a:lnT>
                      <a:noFill/>
                    </a:lnT>
                    <a:lnB>
                      <a:noFill/>
                    </a:lnB>
                    <a:noFill/>
                  </a:tcPr>
                </a:tc>
                <a:tc>
                  <a:txBody>
                    <a:bodyPr/>
                    <a:lstStyle/>
                    <a:p>
                      <a:pPr>
                        <a:buNone/>
                      </a:pPr>
                      <a:r>
                        <a:rPr lang="en-US" sz="2000"/>
                        <a:t>K–12 attacks increased due to weak monitoring baselines.</a:t>
                      </a:r>
                    </a:p>
                  </a:txBody>
                  <a:tcPr anchor="ctr">
                    <a:lnL>
                      <a:noFill/>
                    </a:lnL>
                    <a:lnR>
                      <a:noFill/>
                    </a:lnR>
                    <a:lnT>
                      <a:noFill/>
                    </a:lnT>
                    <a:lnB>
                      <a:noFill/>
                    </a:lnB>
                    <a:noFill/>
                  </a:tcPr>
                </a:tc>
                <a:extLst>
                  <a:ext uri="{0D108BD9-81ED-4DB2-BD59-A6C34878D82A}">
                    <a16:rowId xmlns:a16="http://schemas.microsoft.com/office/drawing/2014/main" val="3072099024"/>
                  </a:ext>
                </a:extLst>
              </a:tr>
              <a:tr h="1067101">
                <a:tc>
                  <a:txBody>
                    <a:bodyPr/>
                    <a:lstStyle/>
                    <a:p>
                      <a:pPr>
                        <a:buNone/>
                      </a:pPr>
                      <a:r>
                        <a:rPr lang="en-US" sz="2000" dirty="0"/>
                        <a:t>NIST 800-161r1</a:t>
                      </a:r>
                    </a:p>
                  </a:txBody>
                  <a:tcPr anchor="ctr">
                    <a:lnL>
                      <a:noFill/>
                    </a:lnL>
                    <a:lnR>
                      <a:noFill/>
                    </a:lnR>
                    <a:lnT>
                      <a:noFill/>
                    </a:lnT>
                    <a:lnB>
                      <a:noFill/>
                    </a:lnB>
                    <a:noFill/>
                  </a:tcPr>
                </a:tc>
                <a:tc>
                  <a:txBody>
                    <a:bodyPr/>
                    <a:lstStyle/>
                    <a:p>
                      <a:pPr>
                        <a:buNone/>
                      </a:pPr>
                      <a:r>
                        <a:rPr lang="en-US" sz="2000"/>
                        <a:t>2022</a:t>
                      </a:r>
                    </a:p>
                  </a:txBody>
                  <a:tcPr anchor="ctr">
                    <a:lnL>
                      <a:noFill/>
                    </a:lnL>
                    <a:lnR>
                      <a:noFill/>
                    </a:lnR>
                    <a:lnT>
                      <a:noFill/>
                    </a:lnT>
                    <a:lnB>
                      <a:noFill/>
                    </a:lnB>
                    <a:noFill/>
                  </a:tcPr>
                </a:tc>
                <a:tc>
                  <a:txBody>
                    <a:bodyPr/>
                    <a:lstStyle/>
                    <a:p>
                      <a:pPr>
                        <a:buNone/>
                      </a:pPr>
                      <a:r>
                        <a:rPr lang="en-US" sz="2000" dirty="0"/>
                        <a:t>Supplier gaps increase propagation risk.</a:t>
                      </a:r>
                    </a:p>
                  </a:txBody>
                  <a:tcPr anchor="ctr">
                    <a:lnL>
                      <a:noFill/>
                    </a:lnL>
                    <a:lnR>
                      <a:noFill/>
                    </a:lnR>
                    <a:lnT>
                      <a:noFill/>
                    </a:lnT>
                    <a:lnB>
                      <a:noFill/>
                    </a:lnB>
                    <a:noFill/>
                  </a:tcPr>
                </a:tc>
                <a:extLst>
                  <a:ext uri="{0D108BD9-81ED-4DB2-BD59-A6C34878D82A}">
                    <a16:rowId xmlns:a16="http://schemas.microsoft.com/office/drawing/2014/main" val="4049164603"/>
                  </a:ext>
                </a:extLst>
              </a:tr>
            </a:tbl>
          </a:graphicData>
        </a:graphic>
      </p:graphicFrame>
      <p:sp>
        <p:nvSpPr>
          <p:cNvPr id="6" name="Rectangle 1">
            <a:extLst>
              <a:ext uri="{FF2B5EF4-FFF2-40B4-BE49-F238E27FC236}">
                <a16:creationId xmlns:a16="http://schemas.microsoft.com/office/drawing/2014/main" id="{1392049D-001F-C77C-1673-13E5217A742C}"/>
              </a:ext>
            </a:extLst>
          </p:cNvPr>
          <p:cNvSpPr>
            <a:spLocks noGrp="1" noChangeArrowheads="1"/>
          </p:cNvSpPr>
          <p:nvPr>
            <p:ph type="body" idx="1"/>
          </p:nvPr>
        </p:nvSpPr>
        <p:spPr bwMode="auto">
          <a:xfrm>
            <a:off x="585788" y="4302810"/>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6A2B9ED2-D178-C369-125C-EACAC3D000E8}"/>
              </a:ext>
            </a:extLst>
          </p:cNvPr>
          <p:cNvSpPr txBox="1"/>
          <p:nvPr/>
        </p:nvSpPr>
        <p:spPr>
          <a:xfrm>
            <a:off x="585076" y="2555190"/>
            <a:ext cx="1842171" cy="726224"/>
          </a:xfrm>
          <a:prstGeom prst="rect">
            <a:avLst/>
          </a:prstGeom>
          <a:noFill/>
        </p:spPr>
        <p:txBody>
          <a:bodyPr wrap="none" rtlCol="0">
            <a:spAutoFit/>
          </a:bodyPr>
          <a:lstStyle/>
          <a:p>
            <a:pPr algn="l">
              <a:lnSpc>
                <a:spcPts val="5800"/>
              </a:lnSpc>
            </a:pPr>
            <a:r>
              <a:rPr lang="en-US" sz="2400" b="1" dirty="0">
                <a:solidFill>
                  <a:schemeClr val="accent5"/>
                </a:solidFill>
                <a:latin typeface="Montserrat" pitchFamily="2" charset="77"/>
              </a:rPr>
              <a:t>Mini Table</a:t>
            </a:r>
          </a:p>
        </p:txBody>
      </p:sp>
    </p:spTree>
    <p:extLst>
      <p:ext uri="{BB962C8B-B14F-4D97-AF65-F5344CB8AC3E}">
        <p14:creationId xmlns:p14="http://schemas.microsoft.com/office/powerpoint/2010/main" val="2905086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0B25-7D3C-4B1C-8932-D892FD81019E}"/>
              </a:ext>
            </a:extLst>
          </p:cNvPr>
          <p:cNvSpPr>
            <a:spLocks noGrp="1"/>
          </p:cNvSpPr>
          <p:nvPr>
            <p:ph type="title"/>
          </p:nvPr>
        </p:nvSpPr>
        <p:spPr>
          <a:xfrm>
            <a:off x="609600" y="1260087"/>
            <a:ext cx="10515600" cy="1133475"/>
          </a:xfrm>
        </p:spPr>
        <p:txBody>
          <a:bodyPr/>
          <a:lstStyle/>
          <a:p>
            <a:r>
              <a:rPr lang="en-US" dirty="0"/>
              <a:t>Method (Diagram + Measures)</a:t>
            </a:r>
          </a:p>
        </p:txBody>
      </p:sp>
      <p:sp>
        <p:nvSpPr>
          <p:cNvPr id="3" name="Text Placeholder 2">
            <a:extLst>
              <a:ext uri="{FF2B5EF4-FFF2-40B4-BE49-F238E27FC236}">
                <a16:creationId xmlns:a16="http://schemas.microsoft.com/office/drawing/2014/main" id="{5526B308-4960-4A84-A9CC-9C3AA54F1424}"/>
              </a:ext>
            </a:extLst>
          </p:cNvPr>
          <p:cNvSpPr>
            <a:spLocks noGrp="1"/>
          </p:cNvSpPr>
          <p:nvPr>
            <p:ph type="body" idx="1"/>
          </p:nvPr>
        </p:nvSpPr>
        <p:spPr>
          <a:xfrm>
            <a:off x="1016000" y="2801256"/>
            <a:ext cx="10515600" cy="3451547"/>
          </a:xfrm>
        </p:spPr>
        <p:txBody>
          <a:bodyPr vert="horz" lIns="0" tIns="0" rIns="0" bIns="0" rtlCol="0" anchor="t">
            <a:noAutofit/>
          </a:bodyPr>
          <a:lstStyle/>
          <a:p>
            <a:r>
              <a:rPr lang="en-US" dirty="0">
                <a:solidFill>
                  <a:schemeClr val="tx2"/>
                </a:solidFill>
              </a:rPr>
              <a:t>Data sources → Log Pipeline → Detection Rules → Analysis Notebook → Metrics Output</a:t>
            </a:r>
          </a:p>
          <a:p>
            <a:r>
              <a:rPr lang="en-US" b="1" dirty="0">
                <a:solidFill>
                  <a:schemeClr val="tx2"/>
                </a:solidFill>
              </a:rPr>
              <a:t>Measures (from Week 6/11):</a:t>
            </a:r>
            <a:endParaRPr lang="en-US" dirty="0">
              <a:solidFill>
                <a:schemeClr val="tx2"/>
              </a:solidFill>
            </a:endParaRPr>
          </a:p>
          <a:p>
            <a:r>
              <a:rPr lang="en-US" dirty="0">
                <a:solidFill>
                  <a:schemeClr val="tx2"/>
                </a:solidFill>
              </a:rPr>
              <a:t>Detection Coverage % (events detected ÷ events expected)</a:t>
            </a:r>
          </a:p>
          <a:p>
            <a:r>
              <a:rPr lang="en-US" dirty="0">
                <a:solidFill>
                  <a:schemeClr val="tx2"/>
                </a:solidFill>
              </a:rPr>
              <a:t>Time-to-Detect (</a:t>
            </a:r>
            <a:r>
              <a:rPr lang="en-US" dirty="0" err="1">
                <a:solidFill>
                  <a:schemeClr val="tx2"/>
                </a:solidFill>
              </a:rPr>
              <a:t>TtD</a:t>
            </a:r>
            <a:r>
              <a:rPr lang="en-US" dirty="0">
                <a:solidFill>
                  <a:schemeClr val="tx2"/>
                </a:solidFill>
              </a:rPr>
              <a:t>)</a:t>
            </a:r>
          </a:p>
          <a:p>
            <a:r>
              <a:rPr lang="en-US" dirty="0">
                <a:solidFill>
                  <a:schemeClr val="tx2"/>
                </a:solidFill>
              </a:rPr>
              <a:t>Risk-Weighted Alert Score (RWAS)</a:t>
            </a:r>
          </a:p>
          <a:p>
            <a:br>
              <a:rPr lang="en-US" dirty="0">
                <a:solidFill>
                  <a:schemeClr val="tx2"/>
                </a:solidFill>
              </a:rPr>
            </a:br>
            <a:endParaRPr lang="en-US" dirty="0"/>
          </a:p>
        </p:txBody>
      </p:sp>
      <p:pic>
        <p:nvPicPr>
          <p:cNvPr id="4" name="Picture 2">
            <a:extLst>
              <a:ext uri="{FF2B5EF4-FFF2-40B4-BE49-F238E27FC236}">
                <a16:creationId xmlns:a16="http://schemas.microsoft.com/office/drawing/2014/main" id="{EE02398B-DBAE-4221-B2E8-464B697FD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7161" y="225144"/>
            <a:ext cx="3234195" cy="1034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293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0B25-7D3C-4B1C-8932-D892FD81019E}"/>
              </a:ext>
            </a:extLst>
          </p:cNvPr>
          <p:cNvSpPr>
            <a:spLocks noGrp="1"/>
          </p:cNvSpPr>
          <p:nvPr>
            <p:ph type="title"/>
          </p:nvPr>
        </p:nvSpPr>
        <p:spPr>
          <a:xfrm>
            <a:off x="508000" y="1242917"/>
            <a:ext cx="10515600" cy="790294"/>
          </a:xfrm>
        </p:spPr>
        <p:txBody>
          <a:bodyPr/>
          <a:lstStyle/>
          <a:p>
            <a:r>
              <a:rPr lang="en-US" dirty="0"/>
              <a:t>Standards Anchors (Crosswalk Excerpt)</a:t>
            </a:r>
            <a:endParaRPr lang="en-US" sz="3200" dirty="0"/>
          </a:p>
        </p:txBody>
      </p:sp>
      <p:pic>
        <p:nvPicPr>
          <p:cNvPr id="4" name="Picture 2">
            <a:extLst>
              <a:ext uri="{FF2B5EF4-FFF2-40B4-BE49-F238E27FC236}">
                <a16:creationId xmlns:a16="http://schemas.microsoft.com/office/drawing/2014/main" id="{EE02398B-DBAE-4221-B2E8-464B697FD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7161" y="225144"/>
            <a:ext cx="3234195" cy="103494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CD120806-0D1F-7AF1-0850-34AA4B3A2CA8}"/>
              </a:ext>
            </a:extLst>
          </p:cNvPr>
          <p:cNvSpPr>
            <a:spLocks noGrp="1" noChangeArrowheads="1"/>
          </p:cNvSpPr>
          <p:nvPr>
            <p:ph type="body" idx="1"/>
          </p:nvPr>
        </p:nvSpPr>
        <p:spPr bwMode="auto">
          <a:xfrm>
            <a:off x="190500" y="3012857"/>
            <a:ext cx="10953640"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CSF Outcome (copy-exact):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DE.CM-01:</a:t>
            </a:r>
            <a:r>
              <a:rPr kumimoji="0" lang="en-US" altLang="en-US" sz="2000" b="0" i="0" u="none" strike="noStrike" cap="none" normalizeH="0" baseline="0" dirty="0">
                <a:ln>
                  <a:noFill/>
                </a:ln>
                <a:solidFill>
                  <a:schemeClr val="tx1"/>
                </a:solidFill>
                <a:effectLst/>
                <a:latin typeface="Arial" panose="020B0604020202020204" pitchFamily="34" charset="0"/>
              </a:rPr>
              <a:t> “Networks and network services are monitored to find potentially adverse events.”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Appendix A, p. 21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One-line rationale: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My design improves monitoring baselines through structured log collection, anomaly detection,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and reproducible analysis.</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ZTA Element (optional):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SP 800-207 Tenet (summarized):</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“All data sources and computing services are considered resources.”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One-line rationale: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Aligns with treating all assets as monitorable resources, not implicitly trusted.</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0036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0B25-7D3C-4B1C-8932-D892FD81019E}"/>
              </a:ext>
            </a:extLst>
          </p:cNvPr>
          <p:cNvSpPr>
            <a:spLocks noGrp="1"/>
          </p:cNvSpPr>
          <p:nvPr>
            <p:ph type="title"/>
          </p:nvPr>
        </p:nvSpPr>
        <p:spPr>
          <a:xfrm>
            <a:off x="522514" y="1033454"/>
            <a:ext cx="9477829" cy="1346889"/>
          </a:xfrm>
        </p:spPr>
        <p:txBody>
          <a:bodyPr/>
          <a:lstStyle/>
          <a:p>
            <a:r>
              <a:rPr lang="en-US" sz="4000" dirty="0"/>
              <a:t>Ethics, DMP &amp; C-SCRM (Safeguards)</a:t>
            </a:r>
          </a:p>
        </p:txBody>
      </p:sp>
      <p:pic>
        <p:nvPicPr>
          <p:cNvPr id="4" name="Picture 2">
            <a:extLst>
              <a:ext uri="{FF2B5EF4-FFF2-40B4-BE49-F238E27FC236}">
                <a16:creationId xmlns:a16="http://schemas.microsoft.com/office/drawing/2014/main" id="{EE02398B-DBAE-4221-B2E8-464B697FD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7161" y="225144"/>
            <a:ext cx="3234195" cy="103494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1">
            <a:extLst>
              <a:ext uri="{FF2B5EF4-FFF2-40B4-BE49-F238E27FC236}">
                <a16:creationId xmlns:a16="http://schemas.microsoft.com/office/drawing/2014/main" id="{C8791CA9-81D1-D0A8-F820-88998713FD91}"/>
              </a:ext>
            </a:extLst>
          </p:cNvPr>
          <p:cNvSpPr>
            <a:spLocks noGrp="1" noChangeArrowheads="1"/>
          </p:cNvSpPr>
          <p:nvPr>
            <p:ph type="body" idx="1"/>
          </p:nvPr>
        </p:nvSpPr>
        <p:spPr bwMode="auto">
          <a:xfrm>
            <a:off x="211364" y="2819321"/>
            <a:ext cx="1129846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Ethics:</a:t>
            </a:r>
            <a:r>
              <a:rPr kumimoji="0" lang="en-US" altLang="en-US" b="0" i="0" u="none" strike="noStrike" cap="none" normalizeH="0" baseline="0" dirty="0">
                <a:ln>
                  <a:noFill/>
                </a:ln>
                <a:solidFill>
                  <a:schemeClr val="tx1"/>
                </a:solidFill>
                <a:effectLst/>
                <a:latin typeface="Arial" panose="020B0604020202020204" pitchFamily="34" charset="0"/>
              </a:rPr>
              <a:t> Use only synthetic or non-identifiable log data;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avoid capturing personal information.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DMP:</a:t>
            </a:r>
            <a:r>
              <a:rPr kumimoji="0" lang="en-US" altLang="en-US" b="0" i="0" u="none" strike="noStrike" cap="none" normalizeH="0" baseline="0" dirty="0">
                <a:ln>
                  <a:noFill/>
                </a:ln>
                <a:solidFill>
                  <a:schemeClr val="tx1"/>
                </a:solidFill>
                <a:effectLst/>
                <a:latin typeface="Arial" panose="020B0604020202020204" pitchFamily="34" charset="0"/>
              </a:rPr>
              <a:t> Store controlled datasets in </a:t>
            </a:r>
            <a:r>
              <a:rPr kumimoji="0" lang="en-US" altLang="en-US" b="0" i="0" u="none" strike="noStrike" cap="none" normalizeH="0" baseline="0" dirty="0">
                <a:ln>
                  <a:noFill/>
                </a:ln>
                <a:solidFill>
                  <a:schemeClr val="tx1"/>
                </a:solidFill>
                <a:effectLst/>
                <a:latin typeface="Arial Unicode MS" panose="020B0604020202020204" pitchFamily="34" charset="-128"/>
              </a:rPr>
              <a:t>/data/</a:t>
            </a:r>
            <a:r>
              <a:rPr kumimoji="0" lang="en-US" altLang="en-US" b="0" i="0" u="none" strike="noStrike" cap="none" normalizeH="0" baseline="0" dirty="0">
                <a:ln>
                  <a:noFill/>
                </a:ln>
                <a:solidFill>
                  <a:schemeClr val="tx1"/>
                </a:solidFill>
                <a:effectLst/>
              </a:rPr>
              <a:t>; apply least privilege;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rPr>
              <a:t>version only safe artifacts.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lvl="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latin typeface="Arial" panose="020B0604020202020204" pitchFamily="34" charset="0"/>
              </a:rPr>
              <a:t>C-SCRM:</a:t>
            </a:r>
            <a:r>
              <a:rPr kumimoji="0" lang="en-US" altLang="en-US" b="0" i="0" u="none" strike="noStrike" cap="none" normalizeH="0" baseline="0" dirty="0">
                <a:ln>
                  <a:noFill/>
                </a:ln>
                <a:solidFill>
                  <a:schemeClr val="tx1"/>
                </a:solidFill>
                <a:effectLst/>
                <a:latin typeface="Arial" panose="020B0604020202020204" pitchFamily="34" charset="0"/>
              </a:rPr>
              <a:t> </a:t>
            </a:r>
            <a:r>
              <a:rPr lang="en-US" altLang="en-US" dirty="0">
                <a:solidFill>
                  <a:schemeClr val="tx1"/>
                </a:solidFill>
                <a:latin typeface="Arial" panose="020B0604020202020204" pitchFamily="34" charset="0"/>
              </a:rPr>
              <a:t>Assess the integrity </a:t>
            </a:r>
            <a:r>
              <a:rPr kumimoji="0" lang="en-US" altLang="en-US" b="0" i="0" u="none" strike="noStrike" cap="none" normalizeH="0" baseline="0" dirty="0">
                <a:ln>
                  <a:noFill/>
                </a:ln>
                <a:solidFill>
                  <a:schemeClr val="tx1"/>
                </a:solidFill>
                <a:effectLst/>
                <a:latin typeface="Arial" panose="020B0604020202020204" pitchFamily="34" charset="0"/>
              </a:rPr>
              <a:t>of dependencies and document supplier risks.</a:t>
            </a:r>
          </a:p>
        </p:txBody>
      </p:sp>
    </p:spTree>
    <p:extLst>
      <p:ext uri="{BB962C8B-B14F-4D97-AF65-F5344CB8AC3E}">
        <p14:creationId xmlns:p14="http://schemas.microsoft.com/office/powerpoint/2010/main" val="4184442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0B25-7D3C-4B1C-8932-D892FD81019E}"/>
              </a:ext>
            </a:extLst>
          </p:cNvPr>
          <p:cNvSpPr>
            <a:spLocks noGrp="1"/>
          </p:cNvSpPr>
          <p:nvPr>
            <p:ph type="title"/>
          </p:nvPr>
        </p:nvSpPr>
        <p:spPr>
          <a:xfrm>
            <a:off x="170644" y="742615"/>
            <a:ext cx="10515600" cy="1477199"/>
          </a:xfrm>
        </p:spPr>
        <p:txBody>
          <a:bodyPr/>
          <a:lstStyle/>
          <a:p>
            <a:r>
              <a:rPr lang="en-US" sz="4400" dirty="0"/>
              <a:t>Evaluation Plan (Metrics &amp; Traceability)</a:t>
            </a:r>
          </a:p>
        </p:txBody>
      </p:sp>
      <p:sp>
        <p:nvSpPr>
          <p:cNvPr id="3" name="Text Placeholder 2">
            <a:extLst>
              <a:ext uri="{FF2B5EF4-FFF2-40B4-BE49-F238E27FC236}">
                <a16:creationId xmlns:a16="http://schemas.microsoft.com/office/drawing/2014/main" id="{5526B308-4960-4A84-A9CC-9C3AA54F1424}"/>
              </a:ext>
            </a:extLst>
          </p:cNvPr>
          <p:cNvSpPr>
            <a:spLocks noGrp="1"/>
          </p:cNvSpPr>
          <p:nvPr>
            <p:ph type="body" idx="1"/>
          </p:nvPr>
        </p:nvSpPr>
        <p:spPr>
          <a:xfrm>
            <a:off x="609600" y="2965676"/>
            <a:ext cx="10515600" cy="3888691"/>
          </a:xfrm>
        </p:spPr>
        <p:txBody>
          <a:bodyPr vert="horz" lIns="0" tIns="0" rIns="0" bIns="0" rtlCol="0" anchor="t">
            <a:noAutofit/>
          </a:bodyPr>
          <a:lstStyle/>
          <a:p>
            <a:r>
              <a:rPr lang="en-US" b="1" dirty="0">
                <a:solidFill>
                  <a:schemeClr val="tx2"/>
                </a:solidFill>
              </a:rPr>
              <a:t>SMART Metrics:</a:t>
            </a:r>
            <a:endParaRPr lang="en-US" dirty="0">
              <a:solidFill>
                <a:schemeClr val="tx2"/>
              </a:solidFill>
            </a:endParaRPr>
          </a:p>
          <a:p>
            <a:r>
              <a:rPr lang="en-US" dirty="0">
                <a:solidFill>
                  <a:schemeClr val="tx2"/>
                </a:solidFill>
              </a:rPr>
              <a:t>Detection Coverage %</a:t>
            </a:r>
          </a:p>
          <a:p>
            <a:endParaRPr lang="en-US" dirty="0">
              <a:solidFill>
                <a:schemeClr val="tx2"/>
              </a:solidFill>
            </a:endParaRPr>
          </a:p>
          <a:p>
            <a:r>
              <a:rPr lang="en-US" dirty="0">
                <a:solidFill>
                  <a:schemeClr val="tx2"/>
                </a:solidFill>
              </a:rPr>
              <a:t>Time-to-Detect</a:t>
            </a:r>
          </a:p>
          <a:p>
            <a:r>
              <a:rPr lang="en-US" dirty="0">
                <a:solidFill>
                  <a:schemeClr val="tx2"/>
                </a:solidFill>
              </a:rPr>
              <a:t>RWAS (Risk-Weighted Alert Score)</a:t>
            </a:r>
          </a:p>
          <a:p>
            <a:endParaRPr lang="en-US" dirty="0">
              <a:solidFill>
                <a:schemeClr val="tx2"/>
              </a:solidFill>
            </a:endParaRPr>
          </a:p>
          <a:p>
            <a:r>
              <a:rPr lang="en-US" b="1" dirty="0">
                <a:solidFill>
                  <a:schemeClr val="tx2"/>
                </a:solidFill>
              </a:rPr>
              <a:t>Traceability Chain:</a:t>
            </a:r>
            <a:br>
              <a:rPr lang="en-US" dirty="0">
                <a:solidFill>
                  <a:schemeClr val="tx2"/>
                </a:solidFill>
              </a:rPr>
            </a:br>
            <a:r>
              <a:rPr lang="en-US" dirty="0">
                <a:solidFill>
                  <a:schemeClr val="tx2"/>
                </a:solidFill>
              </a:rPr>
              <a:t>Risk → 800-171r3 3.3.6 requirement → Metric → Evidence</a:t>
            </a:r>
          </a:p>
          <a:p>
            <a:pPr marL="342900" indent="-342900">
              <a:buFont typeface="Arial" panose="020B0604020202020204" pitchFamily="34" charset="0"/>
              <a:buChar char="•"/>
            </a:pPr>
            <a:endParaRPr lang="en-US" dirty="0"/>
          </a:p>
        </p:txBody>
      </p:sp>
      <p:pic>
        <p:nvPicPr>
          <p:cNvPr id="4" name="Picture 2">
            <a:extLst>
              <a:ext uri="{FF2B5EF4-FFF2-40B4-BE49-F238E27FC236}">
                <a16:creationId xmlns:a16="http://schemas.microsoft.com/office/drawing/2014/main" id="{EE02398B-DBAE-4221-B2E8-464B697FD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7161" y="225144"/>
            <a:ext cx="3234195" cy="1034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477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0B25-7D3C-4B1C-8932-D892FD81019E}"/>
              </a:ext>
            </a:extLst>
          </p:cNvPr>
          <p:cNvSpPr>
            <a:spLocks noGrp="1"/>
          </p:cNvSpPr>
          <p:nvPr>
            <p:ph type="title"/>
          </p:nvPr>
        </p:nvSpPr>
        <p:spPr>
          <a:xfrm>
            <a:off x="170644" y="979406"/>
            <a:ext cx="10515600" cy="1133475"/>
          </a:xfrm>
        </p:spPr>
        <p:txBody>
          <a:bodyPr/>
          <a:lstStyle/>
          <a:p>
            <a:r>
              <a:rPr lang="en-US" sz="4000" dirty="0"/>
              <a:t>CSF Current → Target Profile</a:t>
            </a:r>
          </a:p>
        </p:txBody>
      </p:sp>
      <p:pic>
        <p:nvPicPr>
          <p:cNvPr id="4" name="Picture 2">
            <a:extLst>
              <a:ext uri="{FF2B5EF4-FFF2-40B4-BE49-F238E27FC236}">
                <a16:creationId xmlns:a16="http://schemas.microsoft.com/office/drawing/2014/main" id="{EE02398B-DBAE-4221-B2E8-464B697FD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7161" y="225144"/>
            <a:ext cx="3234195" cy="103494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90CE14F2-85A8-16DE-25C9-61705755B981}"/>
              </a:ext>
            </a:extLst>
          </p:cNvPr>
          <p:cNvSpPr>
            <a:spLocks noGrp="1" noChangeArrowheads="1"/>
          </p:cNvSpPr>
          <p:nvPr>
            <p:ph type="body" idx="1"/>
          </p:nvPr>
        </p:nvSpPr>
        <p:spPr bwMode="auto">
          <a:xfrm>
            <a:off x="478971" y="2559906"/>
            <a:ext cx="12056506"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Required copy-exact text: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DE.CM-01:</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“Networks and network services are monitored to find potentially adverse events.”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Appendix A, p. 21 </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Additional Outcomes: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ID.AM-02:</a:t>
            </a:r>
            <a:r>
              <a:rPr kumimoji="0" lang="en-US" altLang="en-US" sz="2000" b="0" i="0" u="none" strike="noStrike" cap="none" normalizeH="0" baseline="0" dirty="0">
                <a:ln>
                  <a:noFill/>
                </a:ln>
                <a:solidFill>
                  <a:schemeClr val="tx1"/>
                </a:solidFill>
                <a:effectLst/>
                <a:latin typeface="Arial" panose="020B0604020202020204" pitchFamily="34" charset="0"/>
              </a:rPr>
              <a:t> “Inventories of software, services, and systems managed by the organization are maintained.”</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p. 18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ID.RA-05:</a:t>
            </a:r>
            <a:r>
              <a:rPr kumimoji="0" lang="en-US" altLang="en-US" sz="2000" b="0" i="0" u="none" strike="noStrike" cap="none" normalizeH="0" baseline="0" dirty="0">
                <a:ln>
                  <a:noFill/>
                </a:ln>
                <a:solidFill>
                  <a:schemeClr val="tx1"/>
                </a:solidFill>
                <a:effectLst/>
                <a:latin typeface="Arial" panose="020B0604020202020204" pitchFamily="34" charset="0"/>
              </a:rPr>
              <a:t> “Threats, vulnerabilities, likelihoods, and impacts are used to understand inherent risk 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inform risk response prioritization.”</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p. 19 </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Current → Target:</a:t>
            </a:r>
          </a:p>
          <a:p>
            <a:pPr lvl="0" eaLnBrk="0" fontAlgn="base" hangingPunct="0">
              <a:lnSpc>
                <a:spcPct val="100000"/>
              </a:lnSpc>
              <a:spcBef>
                <a:spcPct val="0"/>
              </a:spcBef>
              <a:spcAft>
                <a:spcPct val="0"/>
              </a:spcAft>
              <a:buFontTx/>
              <a:buChar char="•"/>
            </a:pPr>
            <a:r>
              <a:rPr kumimoji="0" lang="en-US" altLang="en-US" sz="2000" b="0" i="1" u="none" strike="noStrike" cap="none" normalizeH="0" baseline="0" dirty="0">
                <a:ln>
                  <a:noFill/>
                </a:ln>
                <a:solidFill>
                  <a:schemeClr val="tx1"/>
                </a:solidFill>
                <a:effectLst/>
                <a:latin typeface="Arial" panose="020B0604020202020204" pitchFamily="34" charset="0"/>
              </a:rPr>
              <a:t>Current:</a:t>
            </a:r>
            <a:r>
              <a:rPr kumimoji="0" lang="en-US" altLang="en-US" sz="2000" b="0" i="0" u="none" strike="noStrike" cap="none" normalizeH="0" baseline="0" dirty="0">
                <a:ln>
                  <a:noFill/>
                </a:ln>
                <a:solidFill>
                  <a:schemeClr val="tx1"/>
                </a:solidFill>
                <a:effectLst/>
                <a:latin typeface="Arial" panose="020B0604020202020204" pitchFamily="34" charset="0"/>
              </a:rPr>
              <a:t> Fragmented inventory, inconsistent monitoring</a:t>
            </a:r>
            <a:r>
              <a:rPr lang="en-US" altLang="en-US" sz="2000" dirty="0">
                <a:solidFill>
                  <a:schemeClr val="tx1"/>
                </a:solidFill>
                <a:latin typeface="Arial" panose="020B0604020202020204" pitchFamily="34" charset="0"/>
              </a:rPr>
              <a:t>, and limited </a:t>
            </a:r>
            <a:r>
              <a:rPr kumimoji="0" lang="en-US" altLang="en-US" sz="2000" b="0" i="0" u="none" strike="noStrike" cap="none" normalizeH="0" baseline="0" dirty="0">
                <a:ln>
                  <a:noFill/>
                </a:ln>
                <a:solidFill>
                  <a:schemeClr val="tx1"/>
                </a:solidFill>
                <a:effectLst/>
                <a:latin typeface="Arial" panose="020B0604020202020204" pitchFamily="34" charset="0"/>
              </a:rPr>
              <a:t>risk scoring.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1" u="none" strike="noStrike" cap="none" normalizeH="0" baseline="0" dirty="0">
                <a:ln>
                  <a:noFill/>
                </a:ln>
                <a:solidFill>
                  <a:schemeClr val="tx1"/>
                </a:solidFill>
                <a:effectLst/>
                <a:latin typeface="Arial" panose="020B0604020202020204" pitchFamily="34" charset="0"/>
              </a:rPr>
              <a:t>Target:</a:t>
            </a:r>
            <a:r>
              <a:rPr kumimoji="0" lang="en-US" altLang="en-US" sz="2000" b="0" i="0" u="none" strike="noStrike" cap="none" normalizeH="0" baseline="0" dirty="0">
                <a:ln>
                  <a:noFill/>
                </a:ln>
                <a:solidFill>
                  <a:schemeClr val="tx1"/>
                </a:solidFill>
                <a:effectLst/>
                <a:latin typeface="Arial" panose="020B0604020202020204" pitchFamily="34" charset="0"/>
              </a:rPr>
              <a:t> Unified inventory, continuous monitoring, reproducible risk-driven alerting.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1967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0B25-7D3C-4B1C-8932-D892FD81019E}"/>
              </a:ext>
            </a:extLst>
          </p:cNvPr>
          <p:cNvSpPr>
            <a:spLocks noGrp="1"/>
          </p:cNvSpPr>
          <p:nvPr>
            <p:ph type="title"/>
          </p:nvPr>
        </p:nvSpPr>
        <p:spPr>
          <a:xfrm>
            <a:off x="609600" y="1494924"/>
            <a:ext cx="10515600" cy="1133475"/>
          </a:xfrm>
        </p:spPr>
        <p:txBody>
          <a:bodyPr/>
          <a:lstStyle/>
          <a:p>
            <a:r>
              <a:rPr lang="en-US" dirty="0"/>
              <a:t>Conclusion &amp; Key Takeaways</a:t>
            </a:r>
          </a:p>
        </p:txBody>
      </p:sp>
      <p:pic>
        <p:nvPicPr>
          <p:cNvPr id="4" name="Picture 2">
            <a:extLst>
              <a:ext uri="{FF2B5EF4-FFF2-40B4-BE49-F238E27FC236}">
                <a16:creationId xmlns:a16="http://schemas.microsoft.com/office/drawing/2014/main" id="{EE02398B-DBAE-4221-B2E8-464B697FD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7161" y="225144"/>
            <a:ext cx="3234195" cy="103494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1">
            <a:extLst>
              <a:ext uri="{FF2B5EF4-FFF2-40B4-BE49-F238E27FC236}">
                <a16:creationId xmlns:a16="http://schemas.microsoft.com/office/drawing/2014/main" id="{E3D0C2F1-00E5-B9A7-1F03-C968E92BCC74}"/>
              </a:ext>
            </a:extLst>
          </p:cNvPr>
          <p:cNvSpPr>
            <a:spLocks noGrp="1" noChangeArrowheads="1"/>
          </p:cNvSpPr>
          <p:nvPr>
            <p:ph type="body" idx="1"/>
          </p:nvPr>
        </p:nvSpPr>
        <p:spPr bwMode="auto">
          <a:xfrm>
            <a:off x="584547" y="2658060"/>
            <a:ext cx="11436809" cy="4549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solidFill>
                  <a:schemeClr val="tx2"/>
                </a:solidFill>
              </a:rPr>
              <a:t>Headline:</a:t>
            </a:r>
          </a:p>
          <a:p>
            <a:r>
              <a:rPr lang="en-US" b="1" dirty="0">
                <a:solidFill>
                  <a:schemeClr val="tx2"/>
                </a:solidFill>
              </a:rPr>
              <a:t>A Measurable, Repeatable Approach to Reducing Ransomware Exposure</a:t>
            </a:r>
            <a:endParaRPr lang="en-US" dirty="0">
              <a:solidFill>
                <a:schemeClr val="tx2"/>
              </a:solidFill>
            </a:endParaRPr>
          </a:p>
          <a:p>
            <a:r>
              <a:rPr lang="en-US" b="1" dirty="0">
                <a:solidFill>
                  <a:schemeClr val="tx2"/>
                </a:solidFill>
              </a:rPr>
              <a:t>Key Takeaways:</a:t>
            </a:r>
          </a:p>
          <a:p>
            <a:r>
              <a:rPr lang="en-US" dirty="0">
                <a:solidFill>
                  <a:schemeClr val="tx2"/>
                </a:solidFill>
              </a:rPr>
              <a:t>Strengthening monitoring and asset visibility directly reduces attack opportunities.</a:t>
            </a:r>
          </a:p>
          <a:p>
            <a:r>
              <a:rPr lang="en-US" dirty="0">
                <a:solidFill>
                  <a:schemeClr val="tx2"/>
                </a:solidFill>
              </a:rPr>
              <a:t>A reproducible workflow provides clear, data-driven evaluation of improvements.</a:t>
            </a:r>
          </a:p>
          <a:p>
            <a:r>
              <a:rPr lang="en-US" dirty="0">
                <a:solidFill>
                  <a:schemeClr val="tx2"/>
                </a:solidFill>
              </a:rPr>
              <a:t>CSF-aligned metrics help translate technical work into governance-level outcomes.</a:t>
            </a:r>
          </a:p>
          <a:p>
            <a:pPr eaLnBrk="0" fontAlgn="base" hangingPunct="0">
              <a:lnSpc>
                <a:spcPct val="100000"/>
              </a:lnSpc>
              <a:spcBef>
                <a:spcPct val="0"/>
              </a:spcBef>
              <a:spcAft>
                <a:spcPct val="0"/>
              </a:spcAft>
            </a:pPr>
            <a:endParaRPr lang="en-US" sz="3200" i="0" u="none" strike="noStrike" cap="none" normalizeH="0" baseline="0" dirty="0">
              <a:ln>
                <a:noFill/>
              </a:ln>
              <a:solidFill>
                <a:srgbClr val="000000"/>
              </a:solidFill>
              <a:effectLst/>
              <a:latin typeface="Montserrat Medium"/>
            </a:endParaRPr>
          </a:p>
        </p:txBody>
      </p:sp>
    </p:spTree>
    <p:extLst>
      <p:ext uri="{BB962C8B-B14F-4D97-AF65-F5344CB8AC3E}">
        <p14:creationId xmlns:p14="http://schemas.microsoft.com/office/powerpoint/2010/main" val="3251100404"/>
      </p:ext>
    </p:extLst>
  </p:cSld>
  <p:clrMapOvr>
    <a:masterClrMapping/>
  </p:clrMapOvr>
</p:sld>
</file>

<file path=ppt/theme/theme1.xml><?xml version="1.0" encoding="utf-8"?>
<a:theme xmlns:a="http://schemas.openxmlformats.org/drawingml/2006/main" name="Office Theme">
  <a:themeElements>
    <a:clrScheme name="Metro State">
      <a:dk1>
        <a:srgbClr val="0D3450"/>
      </a:dk1>
      <a:lt1>
        <a:srgbClr val="FFFFFF"/>
      </a:lt1>
      <a:dk2>
        <a:srgbClr val="001D30"/>
      </a:dk2>
      <a:lt2>
        <a:srgbClr val="EFF1EA"/>
      </a:lt2>
      <a:accent1>
        <a:srgbClr val="2A98AF"/>
      </a:accent1>
      <a:accent2>
        <a:srgbClr val="FBB340"/>
      </a:accent2>
      <a:accent3>
        <a:srgbClr val="F04E3D"/>
      </a:accent3>
      <a:accent4>
        <a:srgbClr val="7FBD41"/>
      </a:accent4>
      <a:accent5>
        <a:srgbClr val="096277"/>
      </a:accent5>
      <a:accent6>
        <a:srgbClr val="F78F1E"/>
      </a:accent6>
      <a:hlink>
        <a:srgbClr val="B22C2E"/>
      </a:hlink>
      <a:folHlink>
        <a:srgbClr val="12743C"/>
      </a:folHlink>
    </a:clrScheme>
    <a:fontScheme name="MS_Montserrat">
      <a:majorFont>
        <a:latin typeface="Montserrat SemiBold"/>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ts val="5800"/>
          </a:lnSpc>
          <a:defRPr sz="4800" b="1" dirty="0">
            <a:solidFill>
              <a:schemeClr val="accent5"/>
            </a:solidFill>
            <a:latin typeface="Montserrat" pitchFamily="2" charset="77"/>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yCategories xmlns="25a0b1ce-d71c-4f42-b392-11b8cfbe9dc6" xsi:nil="true"/>
    <lcf76f155ced4ddcb4097134ff3c332f xmlns="25a0b1ce-d71c-4f42-b392-11b8cfbe9dc6">
      <Terms xmlns="http://schemas.microsoft.com/office/infopath/2007/PartnerControls"/>
    </lcf76f155ced4ddcb4097134ff3c332f>
    <TaxCatchAll xmlns="7097122c-d1c2-4ba9-ab5e-be02cf906ad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536C0CA047436418BB53C3BDFA1BCE9" ma:contentTypeVersion="15" ma:contentTypeDescription="Create a new document." ma:contentTypeScope="" ma:versionID="a4a702589a9fc53a166799c824d45392">
  <xsd:schema xmlns:xsd="http://www.w3.org/2001/XMLSchema" xmlns:xs="http://www.w3.org/2001/XMLSchema" xmlns:p="http://schemas.microsoft.com/office/2006/metadata/properties" xmlns:ns2="25a0b1ce-d71c-4f42-b392-11b8cfbe9dc6" xmlns:ns3="7097122c-d1c2-4ba9-ab5e-be02cf906adb" targetNamespace="http://schemas.microsoft.com/office/2006/metadata/properties" ma:root="true" ma:fieldsID="34d5a7c20b3fcf9b49fb4cceacb9887c" ns2:_="" ns3:_="">
    <xsd:import namespace="25a0b1ce-d71c-4f42-b392-11b8cfbe9dc6"/>
    <xsd:import namespace="7097122c-d1c2-4ba9-ab5e-be02cf906adb"/>
    <xsd:element name="properties">
      <xsd:complexType>
        <xsd:sequence>
          <xsd:element name="documentManagement">
            <xsd:complexType>
              <xsd:all>
                <xsd:element ref="ns2:MyCategories" minOccurs="0"/>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a0b1ce-d71c-4f42-b392-11b8cfbe9dc6" elementFormDefault="qualified">
    <xsd:import namespace="http://schemas.microsoft.com/office/2006/documentManagement/types"/>
    <xsd:import namespace="http://schemas.microsoft.com/office/infopath/2007/PartnerControls"/>
    <xsd:element name="MyCategories" ma:index="8" nillable="true" ma:displayName="MyCategories" ma:internalName="MyCategories">
      <xsd:complexType>
        <xsd:complexContent>
          <xsd:extension base="dms:MultiChoice">
            <xsd:sequence>
              <xsd:element name="Value" maxOccurs="unbounded" minOccurs="0" nillable="true">
                <xsd:simpleType>
                  <xsd:restriction base="dms:Choice">
                    <xsd:enumeration value="Quarterly Updates"/>
                    <xsd:enumeration value="Style Guide"/>
                    <xsd:enumeration value="Brand Resources"/>
                    <xsd:enumeration value="Rebrand Project"/>
                    <xsd:enumeration value="Marketing and Recruitment Information and Updates"/>
                    <xsd:enumeration value="Metro Moment"/>
                  </xsd:restriction>
                </xsd:simpleType>
              </xsd:element>
            </xsd:sequence>
          </xsd:extension>
        </xsd:complexContent>
      </xsd:complex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f95a9afa-61c7-4e96-8bec-901bd188774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097122c-d1c2-4ba9-ab5e-be02cf906adb"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e652ca9a-03b6-43d2-9dad-72a63d944e6d}" ma:internalName="TaxCatchAll" ma:showField="CatchAllData" ma:web="7097122c-d1c2-4ba9-ab5e-be02cf906ad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A69A0F-6A1F-45EC-A739-DED3AE83989E}">
  <ds:schemaRefs>
    <ds:schemaRef ds:uri="http://schemas.microsoft.com/sharepoint/v3/contenttype/forms"/>
  </ds:schemaRefs>
</ds:datastoreItem>
</file>

<file path=customXml/itemProps2.xml><?xml version="1.0" encoding="utf-8"?>
<ds:datastoreItem xmlns:ds="http://schemas.openxmlformats.org/officeDocument/2006/customXml" ds:itemID="{8AB2A127-31F7-4C88-A8BB-0378A2144659}">
  <ds:schemaRefs>
    <ds:schemaRef ds:uri="25a0b1ce-d71c-4f42-b392-11b8cfbe9dc6"/>
    <ds:schemaRef ds:uri="7097122c-d1c2-4ba9-ab5e-be02cf906ad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85419B8-34D8-42C5-BE77-90921FF43E91}">
  <ds:schemaRefs>
    <ds:schemaRef ds:uri="25a0b1ce-d71c-4f42-b392-11b8cfbe9dc6"/>
    <ds:schemaRef ds:uri="7097122c-d1c2-4ba9-ab5e-be02cf906ad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455</TotalTime>
  <Words>920</Words>
  <Application>Microsoft Macintosh PowerPoint</Application>
  <PresentationFormat>Widescreen</PresentationFormat>
  <Paragraphs>91</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Montserrat Medium</vt:lpstr>
      <vt:lpstr>Calibri</vt:lpstr>
      <vt:lpstr>Montserrat</vt:lpstr>
      <vt:lpstr>Arial Unicode MS</vt:lpstr>
      <vt:lpstr>Office Theme</vt:lpstr>
      <vt:lpstr>PowerPoint Presentation</vt:lpstr>
      <vt:lpstr>Why Now / Significance</vt:lpstr>
      <vt:lpstr>Evidence Snapshot (Prior Work)</vt:lpstr>
      <vt:lpstr>Method (Diagram + Measures)</vt:lpstr>
      <vt:lpstr>Standards Anchors (Crosswalk Excerpt)</vt:lpstr>
      <vt:lpstr>Ethics, DMP &amp; C-SCRM (Safeguards)</vt:lpstr>
      <vt:lpstr>Evaluation Plan (Metrics &amp; Traceability)</vt:lpstr>
      <vt:lpstr>CSF Current → Target Profile</vt:lpstr>
      <vt:lpstr>Conclusion &amp; Key Takeaways</vt:lpstr>
    </vt:vector>
  </TitlesOfParts>
  <Company>Metro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Assessment Presentation</dc:title>
  <dc:subject>Cybersecurity</dc:subject>
  <dc:creator>William Lee</dc:creator>
  <cp:keywords>Confidential</cp:keywords>
  <cp:lastModifiedBy>Clarence  W Campbell</cp:lastModifiedBy>
  <cp:revision>2</cp:revision>
  <dcterms:created xsi:type="dcterms:W3CDTF">2021-12-16T15:56:34Z</dcterms:created>
  <dcterms:modified xsi:type="dcterms:W3CDTF">2025-12-14T00:49:53Z</dcterms:modified>
  <cp:category>Risk Assessment</cp:category>
  <cp:version>12172024</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0x0101003536C0CA047436418BB53C3BDFA1BCE9</vt:lpwstr>
  </property>
</Properties>
</file>